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378c059e04418b" /><Relationship Type="http://schemas.openxmlformats.org/officeDocument/2006/relationships/extended-properties" Target="/docProps/app.xml" Id="R2e56d88a210241f5" /><Relationship Type="http://schemas.openxmlformats.org/officeDocument/2006/relationships/officeDocument" Target="/ppt/presentation.xml" Id="Rf749c1b9b7bf4b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a34f11a90d44e6"/>
  </p:sldMasterIdLst>
  <p:notesMasterIdLst>
    <p:notesMasterId xmlns:r="http://schemas.openxmlformats.org/officeDocument/2006/relationships" r:id="Rf80a32bc32fb43aa"/>
  </p:notesMasterIdLst>
  <p:sldIdLst>
    <p:sldId xmlns:r="http://schemas.openxmlformats.org/officeDocument/2006/relationships" id="256" r:id="Rb64a69f72fe84b6a"/>
    <p:sldId xmlns:r="http://schemas.openxmlformats.org/officeDocument/2006/relationships" id="257" r:id="R1551e4a56e8f4535"/>
    <p:sldId xmlns:r="http://schemas.openxmlformats.org/officeDocument/2006/relationships" id="258" r:id="Rba83d083827648fe"/>
    <p:sldId xmlns:r="http://schemas.openxmlformats.org/officeDocument/2006/relationships" id="259" r:id="Rc1dd54cef4674f88"/>
    <p:sldId xmlns:r="http://schemas.openxmlformats.org/officeDocument/2006/relationships" id="260" r:id="R1de2d3d36e884ef7"/>
    <p:sldId xmlns:r="http://schemas.openxmlformats.org/officeDocument/2006/relationships" id="261" r:id="R33b565aa6a3e4531"/>
    <p:sldId xmlns:r="http://schemas.openxmlformats.org/officeDocument/2006/relationships" id="262" r:id="R576f505b9e7948f3"/>
    <p:sldId xmlns:r="http://schemas.openxmlformats.org/officeDocument/2006/relationships" id="263" r:id="R916e98de4b26402c"/>
    <p:sldId xmlns:r="http://schemas.openxmlformats.org/officeDocument/2006/relationships" id="264" r:id="R60882c62da464faf"/>
    <p:sldId xmlns:r="http://schemas.openxmlformats.org/officeDocument/2006/relationships" id="265" r:id="R7ca7e73c215e48e8"/>
    <p:sldId xmlns:r="http://schemas.openxmlformats.org/officeDocument/2006/relationships" id="266" r:id="R5d1f8797180d4ef2"/>
    <p:sldId xmlns:r="http://schemas.openxmlformats.org/officeDocument/2006/relationships" id="267" r:id="R8b62038940ce4d88"/>
    <p:sldId xmlns:r="http://schemas.openxmlformats.org/officeDocument/2006/relationships" id="268" r:id="Reb59d46ffb3945c2"/>
    <p:sldId xmlns:r="http://schemas.openxmlformats.org/officeDocument/2006/relationships" id="269" r:id="R492312ac0c7b4a38"/>
    <p:sldId xmlns:r="http://schemas.openxmlformats.org/officeDocument/2006/relationships" id="270" r:id="R3fef6ea12d604254"/>
    <p:sldId xmlns:r="http://schemas.openxmlformats.org/officeDocument/2006/relationships" id="271" r:id="R65214695ac2740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16e2942e3b4c05" /><Relationship Type="http://schemas.openxmlformats.org/officeDocument/2006/relationships/slideMaster" Target="/ppt/slideMasters/slideMaster1.xml" Id="R29a34f11a90d44e6" /><Relationship Type="http://schemas.openxmlformats.org/officeDocument/2006/relationships/notesMaster" Target="/ppt/notesMasters/notesMaster1.xml" Id="Rf80a32bc32fb43aa" /><Relationship Type="http://schemas.openxmlformats.org/officeDocument/2006/relationships/presProps" Target="/ppt/presProps.xml" Id="Rc8d9160663a54df9" /><Relationship Type="http://schemas.openxmlformats.org/officeDocument/2006/relationships/viewProps" Target="/ppt/viewProps.xml" Id="Rabf62a8494d4431f" /><Relationship Type="http://schemas.openxmlformats.org/officeDocument/2006/relationships/tableStyles" Target="/ppt/tableStyles.xml" Id="R5b04e6ccbaa64fd4" /><Relationship Type="http://schemas.openxmlformats.org/officeDocument/2006/relationships/slide" Target="/ppt/slides/slide1.xml" Id="Rb64a69f72fe84b6a" /><Relationship Type="http://schemas.openxmlformats.org/officeDocument/2006/relationships/slide" Target="/ppt/slides/slide2.xml" Id="R1551e4a56e8f4535" /><Relationship Type="http://schemas.openxmlformats.org/officeDocument/2006/relationships/slide" Target="/ppt/slides/slide3.xml" Id="Rba83d083827648fe" /><Relationship Type="http://schemas.openxmlformats.org/officeDocument/2006/relationships/slide" Target="/ppt/slides/slide4.xml" Id="Rc1dd54cef4674f88" /><Relationship Type="http://schemas.openxmlformats.org/officeDocument/2006/relationships/slide" Target="/ppt/slides/slide5.xml" Id="R1de2d3d36e884ef7" /><Relationship Type="http://schemas.openxmlformats.org/officeDocument/2006/relationships/slide" Target="/ppt/slides/slide6.xml" Id="R33b565aa6a3e4531" /><Relationship Type="http://schemas.openxmlformats.org/officeDocument/2006/relationships/slide" Target="/ppt/slides/slide7.xml" Id="R576f505b9e7948f3" /><Relationship Type="http://schemas.openxmlformats.org/officeDocument/2006/relationships/slide" Target="/ppt/slides/slide8.xml" Id="R916e98de4b26402c" /><Relationship Type="http://schemas.openxmlformats.org/officeDocument/2006/relationships/slide" Target="/ppt/slides/slide9.xml" Id="R60882c62da464faf" /><Relationship Type="http://schemas.openxmlformats.org/officeDocument/2006/relationships/slide" Target="/ppt/slides/slide10.xml" Id="R7ca7e73c215e48e8" /><Relationship Type="http://schemas.openxmlformats.org/officeDocument/2006/relationships/slide" Target="/ppt/slides/slide11.xml" Id="R5d1f8797180d4ef2" /><Relationship Type="http://schemas.openxmlformats.org/officeDocument/2006/relationships/slide" Target="/ppt/slides/slide12.xml" Id="R8b62038940ce4d88" /><Relationship Type="http://schemas.openxmlformats.org/officeDocument/2006/relationships/slide" Target="/ppt/slides/slide13.xml" Id="Reb59d46ffb3945c2" /><Relationship Type="http://schemas.openxmlformats.org/officeDocument/2006/relationships/slide" Target="/ppt/slides/slide14.xml" Id="R492312ac0c7b4a38" /><Relationship Type="http://schemas.openxmlformats.org/officeDocument/2006/relationships/slide" Target="/ppt/slides/slide15.xml" Id="R3fef6ea12d604254" /><Relationship Type="http://schemas.openxmlformats.org/officeDocument/2006/relationships/slide" Target="/ppt/slides/slide16.xml" Id="R65214695ac2740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f90c276b3a49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6fd2330eaf4b80" /><Relationship Type="http://schemas.openxmlformats.org/officeDocument/2006/relationships/notesMaster" Target="/ppt/notesMasters/notesMaster1.xml" Id="R868bda370c734c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87659ceed94639" /><Relationship Type="http://schemas.openxmlformats.org/officeDocument/2006/relationships/notesMaster" Target="/ppt/notesMasters/notesMaster1.xml" Id="Rafb6ed5e4c9f4a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ca47ef77df44ec" /><Relationship Type="http://schemas.openxmlformats.org/officeDocument/2006/relationships/notesMaster" Target="/ppt/notesMasters/notesMaster1.xml" Id="Re30e6f1e889949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8bf9a6864544da" /><Relationship Type="http://schemas.openxmlformats.org/officeDocument/2006/relationships/notesMaster" Target="/ppt/notesMasters/notesMaster1.xml" Id="R9ccc75f957ae4c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e40b0720b14f64" /><Relationship Type="http://schemas.openxmlformats.org/officeDocument/2006/relationships/notesMaster" Target="/ppt/notesMasters/notesMaster1.xml" Id="R20f58e2a6f5b48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638e6d63e24e43" /><Relationship Type="http://schemas.openxmlformats.org/officeDocument/2006/relationships/notesMaster" Target="/ppt/notesMasters/notesMaster1.xml" Id="R171f378d58f942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307f4475c24bdf" /><Relationship Type="http://schemas.openxmlformats.org/officeDocument/2006/relationships/notesMaster" Target="/ppt/notesMasters/notesMaster1.xml" Id="R5968d647eea24d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c8806504e84d97" /><Relationship Type="http://schemas.openxmlformats.org/officeDocument/2006/relationships/notesMaster" Target="/ppt/notesMasters/notesMaster1.xml" Id="Rb4ac3e729d2f42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e9b524929d439c" /><Relationship Type="http://schemas.openxmlformats.org/officeDocument/2006/relationships/notesMaster" Target="/ppt/notesMasters/notesMaster1.xml" Id="Ra7b33992e24243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0c1e48da1a4529" /><Relationship Type="http://schemas.openxmlformats.org/officeDocument/2006/relationships/notesMaster" Target="/ppt/notesMasters/notesMaster1.xml" Id="R2962cb27f8d84c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18135eebae464e" /><Relationship Type="http://schemas.openxmlformats.org/officeDocument/2006/relationships/notesMaster" Target="/ppt/notesMasters/notesMaster1.xml" Id="R6d780fc56ef647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b1e585b19c4193" /><Relationship Type="http://schemas.openxmlformats.org/officeDocument/2006/relationships/notesMaster" Target="/ppt/notesMasters/notesMaster1.xml" Id="Ra16f8cce31644f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60422689eb4dfc" /><Relationship Type="http://schemas.openxmlformats.org/officeDocument/2006/relationships/notesMaster" Target="/ppt/notesMasters/notesMaster1.xml" Id="R5f691cb0d5d84c1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714e7cbc85d458c" /><Relationship Type="http://schemas.openxmlformats.org/officeDocument/2006/relationships/notesMaster" Target="/ppt/notesMasters/notesMaster1.xml" Id="Rd50ae1b1b8e445f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85aaf485c34ec1" /><Relationship Type="http://schemas.openxmlformats.org/officeDocument/2006/relationships/notesMaster" Target="/ppt/notesMasters/notesMaster1.xml" Id="R7a54af863454471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9c155f876654284" /><Relationship Type="http://schemas.openxmlformats.org/officeDocument/2006/relationships/notesMaster" Target="/ppt/notesMasters/notesMaster1.xml" Id="R3c9eb7439cc64f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MESSAGE: Storybook is the entry point to Plectrum — what exists, how to use it, what state it is in. - Goal: everyone leaves knowing where to find a component, how to start, where to report a gap. - Overview only: no terminal, no live demo; details stay in Storybook. - For every application team: iShare, iCRM, iGED and every team that joins later. - Flow: structure · SSOTs · token pipelines · AI-first (optional) · CI · PRs · contributing · scale · benefits. - About 25 min + questions. - Transition: "First, where Storybook sits in Plectrum." Source: Overview — https://solidaris-danielbodigil.github.io/solidaris-plectrum/storybook/?path=/docs/introduction--docs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MESSAGE: one shared system; each team owns its application. - Figma: shared visual decisions — designers own the values and the component designs. - Plectrum: shared code and contracts, published as Storybook + versioned packages; the Core team owns it. - Application teams: own repositories and screens; local Candidates only after a Core decision. - Apps install a version: nothing is copied, no Plectrum folder in the app. - Boundary: shared things change through Plectrum PRs and proposals; app code stays with the team. - Transition: "So how does a team actually use Plectrum? Through packages." Source: Overview — https://solidaris-danielbodigil.github.io/solidaris-plectrum/storybook/?path=/docs/introduction--docs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MESSAGE: teams don't copy Plectrum — they install it as versioned packages and keep their own repo. - 4 packages under @solidaris-danielbodigil on GitHub Packages (private; the team needs read access). - Runtime: pds-ui, pds-plectrum, pds-styles — version together. Toolkit: pds-devkit — dev dependency, own version. - Before init: Core registers the team, application and repo URL. - Initialize: plectrum init writes .plectrum/config.json, the Cursor / VS Code agents and a PR workflow running the CI profile. - Build: pds-styles on the include path + one @use in styles.scss; providePlectrum() in app.config themes PrimeNG. - Before you invent: themed PrimeNG → a Core pds-* component → a proposal. - App rules: CSS is the API (var(--pds-*), o- / c- / u- classes); no token copies; no silent duplicates. - Upgrade: Renovate / Dependabot PRs → plectrum update → validate. What's new lists breaking changes. - Today main is a development preview: a pilot installs packed tarballs until the release is published. Source: Build with Plectrum — https://solidaris-danielbodigil.github.io/solidaris-plectrum/storybook/?path=/docs/get-started-use-plectrum-in-an-app--docs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MESSAGE: the system scales because each thing has one source — change it once, regenerate, CI catches drift. - Token sources: imported Figma values + code-owned settings → CSS and Foundations pages. - Component metadata: one contract beside the component → docs, catalogue, agent index. - Contribution steps: change a review step once in process.json → docs, CLI help and agent instructions regenerate. - Fewer copies to maintain; CI fails when a copy drifts. - CSS: ITCSS layers + BEMIT naming + shared --pds-* tokens — one architecture for every team. - Next slide: every source, what it feeds and what guards it. Source: Storybook › Docs / CSS architecture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MESSAGE: each fact is written once; the rest is generated — and CI fails a second copy. - Component: .metadata.ts → docs page, Find a component row, index.json, toolkit catalogue. - Tokens: tokens.json is imported, never hand-edited; tokens:build is the only writer; Foundations read the compiled CSS. - Process: one contract → Storybook page, plectrum help, agent guidance. - CI: the gates table is read from ci.yml — it cannot drift. - Agents: written once in .ai/agents/; Cursor and VS Code files are generated. - Releases: What's new is generated from changesets. - CI fails on: a stale index, props that drift from the Angular class, docs that restate metadata, an undeclared token (the "Consumed" play test). - Result: effort goes into sources and gates, not into keeping pages in sync. Source: AI strategy · Writing stories · Process and contracts — https://solidaris-danielbodigil.github.io/solidaris-plectrum/storybook/?path=/docs/docs-ai-strategy--docs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MESSAGE: one loop — tokens flow down to apps and back up to Figma; every direction ends in a human merge. - Diagram: Storybook's "Pipeline architecture". Orange = Figma, blue = repo, green = app; dashed = manual. - 1: plugin sync → staging branch design-tokens/sync → reviewed PR into tokens.json. - 2: tokens:build → CSS + Storybook manifest. 3–4: packages published → Renovate / Dependabot bump the apps. - 5: an app team PR adds code-owned --pds-* tokens in Plectrum. - 6–7: tokens:propose → agent (Figma MCP) or tokens plugin → proposals/{app} → a designer merges and publishes. - Every sync: three-way drift audit (Figma, preset, SCSS); report in the PR and as a Figma comment. - Last sync: 25 Sept 2026 — 2,849 / 2,849 tokens resolve, audit passed. Source: Token pipeline › Architecture · Figma sync — https://solidaris-danielbodigil.github.io/solidaris-plectrum/storybook/?path=/docs/docs-token-pipeline--docs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MESSAGE: agents read typed contracts, not the whole repo — Contract-Driven Development (CDD). - One flow = Storybook's "Contract layers" (index → metadata → protocols → libs/ui) + the component-creation pre-flight (PrimeNG, Figma, index, Storybook MCP). - index.json: generated map — what exists, where, status, owner. - {name}.metadata.ts: how and why to use it — use cases, anti-patterns, tokens, a11y, AI hints. - protocols/: decision trees for create, query, audit. - Steps 1–4 find what exists; steps 5–7 only run when something is really missing. - "Starter files" (Storybook says "scaffold"): one command creates the Angular files, .metadata.ts, story stub and styles — only after Core approves. - Example prompt: the pre-flight finds PrimeNG DatePicker (range mode) already covers the need → no new component, no proposal. The Storybook's own example (status banner) is on slide 8. - Humans still own review, Storybook, CSS and Figma publication. - By hand: covered on slide 9 (No AI?) — same scripts, tests, CI gates and reviews, just slower. Source: AI strategy — https://solidaris-danielbodigil.github.io/solidaris-plectrum/storybook/?path=/docs/docs-ai-strategy--docs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MESSAGE: the agent prepares, checks verify, people decide. - /plectrum is the only user-facing agent; it coordinates 6 specialists. - UX Researcher: Figma inspection, design brief (read-only). - UX Engineer: SCSS tokens, styles, stories. - Frontend Dev: Angular implementation, a11y, PrimeNG wiring. - Tester: unit tests, story coverage, WCAG 2.1 AA. - Token Auditor + Architect: drift, naming, boundaries (read-only). - Written once in .ai/agents/; plectrum init installs them in each app repo. - Every route still needs a proposal, a Core decision, a review and a human Figma merge. Source: AI strategy › Subagents — https://solidaris-danielbodigil.github.io/solidaris-plectrum/storybook/?path=/docs/docs-ai-strategy--docs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MESSAGE: no AI? Nothing lost — same scripts, same CI, same reviews. - Storybook: "It is a choice, not a requirement." - Find — agent: PrimeNG MCP → index.json → Storybook MCP (same order as the pre-flight on slide 7). - Find — by hand: check themed PrimeNG first, then Find a component or plectrum catalogue (offline). - Create: plectrum scaffold (app repo, after approval) or pds:component (Plectrum repo). - Check: plectrum check --profile ci. - Figma to tokens: an agent can read variables via Figma MCP, or the designer runs the plugin sync; either way the CI drift audit runs and a developer merges the PR. - Tokens to Figma: tokens:propose + the Plectrum tokens plugin. - Figma components: a designer draws them; merge and publish stay human. - CI runs regardless — agent and human changes alike. Source: AI strategy · Token pipeline › Commands — https://solidaris-danielbodigil.github.io/solidaris-plectrum/storybook/?path=/docs/docs-ai-strategy--docs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MESSAGE: four gates, one rule — nothing merges on trust. - Before commit: git hook check:commit — docs, contracts, tokens, lint, generated files saved. - Every Plectrum PR (ci.yml): intake-guard · build (drift audit, docs:check, contracts:check, lint, unit tests) · pack-smoke · storybook-tests (interaction + a11y) · storybook-packed · figma-plugin. - Chromatic visual tests: only when enabled — don't promise more. - Every token sync: three-way drift audit (blocking); report in the PR and in Figma. - Every app repo: plectrum check --profile ci — no hex, no px, no unknown --pds-*. - Release: same commit's CI, clean-app install, matching Storybook; "latest" never moves on a partial release. Source: Maintainer workflow — https://solidaris-danielbodigil.github.io/solidaris-plectrum/storybook/?path=/docs/docs-maintainer-workflow--docs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MESSAGE: a PR merges on evidence, not trust — tests and CI produce it, with or without AI. - Unit tests: Vitest — logic and coverage. - Story tests: every story renders; interaction (play) tests; axe accessibility checks. - Contracts + tokens: contracts:check (API), docs:check, generated files committed, token audit. - Package smoke: pack the libraries, install them in a clean throwaway app and build it — exactly what a team repo does (1 app = 1 repo). - Application CI: plectrum check --profile ci — compatibility, source scan, Candidate evidence. - Chromatic visual tests only when enabled — don't promise more. - Same gates for agent and human changes. Source: Maintainer workflow — https://solidaris-danielbodigil.github.io/solidaris-plectrum/storybook/?path=/docs/docs-maintainer-workflow--docs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MESSAGE: every change lands through a reviewed PR; humans own the decisions. - Plectrum code (libs/): Code Owner review + design-system review. - Figma → repo: staging branch only; promotion needs a reviewed PR. - App candidates: candidate-submit opens a reviewed central PR; nothing becomes Core automatically. - Repo → Figma: a designer reviews proposals/{app}, then merges and publishes. - Apps: bumps arrive as Renovate / Dependabot PRs, gated by the app CI profile. - Releases: Changesets version PR; a maintainer runs the attended release. Source: Contribute · Maintainer workflow — https://solidaris-danielbodigil.github.io/solidaris-plectrum/storybook/?path=/docs/get-started-contribute--docs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MESSAGE: a typo is a PR; a gap is a proposal. - Small fix (typo, example, link): PR on Plectrum. - Gap (component, variant, token): proposal = a GitHub issue on Plectrum — the need, what you tried, a Figma link. Core records the decision on it. - Check themed PrimeNG and Core first — "a Candidate is not a core-team ticket". - Core records one decision: use-existing · app-specific · rejected · approved-candidate. - The toolkit only scaffolds and submits under approved-candidate. - Your team builds it → your team owns it. Nothing becomes Core automatically. - Already built it? Open the proposal anyway and attach it. Source: Contribute › Proposal decisions — https://solidaris-danielbodigil.github.io/solidaris-plectrum/storybook/?path=/docs/get-started-contribute--docs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MESSAGE: two routes to Core — from an app team or from the design team. - IMPORTANT: keep Core in the loop from the start of development — it avoids a Core bottleneck at integration, avoids building something that gets rejected or already exists, and you get guidance on reuse, naming and tokens. - Colours = actor: green app, blue Core, orange designer, grey release. - Every proposal is a GitHub issue in the central Plectrum repo — from an app team or a designer. - Step names simplified from Storybook: Discover → Propose, Approve → Decide, Implement → Build, Design return → Update Figma. - App route: the team proposes the gap → Core decides → the team builds in its repo and submits (candidate-submit) → Core integrates → designer updates Figma → release → the app adopts. - Until integration, the component stays the app's; nothing becomes Core automatically. - Candidates use feature names (c-affiliate-*), never Core names; the app CI profile still applies. - Design route: designer proposes from Custom components → Core decides and builds → release. Example: Profile header. - Corrections and Core work: a reviewed PR in the Plectrum repo. Source: Process and contracts — https://solidaris-danielbodigil.github.io/solidaris-plectrum/storybook/?path=/docs/docs-pipeline-contracts--docs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MESSAGE: the whole process exists to stop teams redoing the same work — and everyone gains something. - Less duplicate maintenance (Core, app teams): one source, generated docs, no design-system code copied into apps. - Fewer local variants (app teams, Solidaris): PrimeNG → Core → proposal; one look across applications. - Earlier feedback (app teams, designers): stories, CI and review catch issues in the PR; sync results land in Figma. - Repeatable adoption (Solidaris, new teams): a new team = a registry entry + plectrum init; upgrades arrive as PRs. - Ask of every team: consume the packages, run the checks, return shared improvements through a GitHub issue. - Next step: one real pilot team walks the full path — proposal → decision → candidate → integration → release → adoption. Name who decides, builds and reviews. Source: Overview — https://solidaris-danielbodigil.github.io/solidaris-plectrum/storybook/?path=/docs/introduction--docs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MESSAGE: collect concrete blockers — let the teams speak first. - Sort questions: find · install · contribute · validate. - Note owners, pilot and missing access; command details → Storybook or a technical session. - Rebuild our app? No — install packages; build locally only after a decision. - Code to copy? No — consume a published version. - Can AI build a component? It prepares; people review. - Missing token? Describe the need, check existing roles, propose it; the value is reviewed. - Our own repo already? The isolated trial passed; a real repo is the pilot's goal. - Close: restate the pilot and access prerequisites.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98776e9162472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7e5585fe564056" /><Relationship Type="http://schemas.openxmlformats.org/officeDocument/2006/relationships/slideLayout" Target="/ppt/slideLayouts/slideLayout1.xml" Id="R5624af9aef2e4b7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24af9aef2e4b7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1c9340aa5487f" /><Relationship Type="http://schemas.openxmlformats.org/officeDocument/2006/relationships/image" Target="/ppt/media/image.png" Id="R1d00d68ebdd74a71" /><Relationship Type="http://schemas.openxmlformats.org/officeDocument/2006/relationships/image" Target="/ppt/media/image2.png" Id="Ree67cae2c86d4f45" /><Relationship Type="http://schemas.openxmlformats.org/officeDocument/2006/relationships/notesSlide" Target="/ppt/notesSlides/notesSlide1.xml" Id="R5d931831e2784c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465bac44847b9" /><Relationship Type="http://schemas.openxmlformats.org/officeDocument/2006/relationships/image" Target="/ppt/media/image3.png" Id="R3a0e533174bb477c" /><Relationship Type="http://schemas.openxmlformats.org/officeDocument/2006/relationships/image" Target="/ppt/media/image4.png" Id="R0689c5120b364782" /><Relationship Type="http://schemas.openxmlformats.org/officeDocument/2006/relationships/notesSlide" Target="/ppt/notesSlides/notesSlide2.xml" Id="R218899ebcdce45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2da8201474e27" /><Relationship Type="http://schemas.openxmlformats.org/officeDocument/2006/relationships/image" Target="/ppt/media/image5.png" Id="Rf74fce3603b9406f" /><Relationship Type="http://schemas.openxmlformats.org/officeDocument/2006/relationships/notesSlide" Target="/ppt/notesSlides/notesSlide3.xml" Id="R55c0b51dfb4549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1139484944c7a" /><Relationship Type="http://schemas.openxmlformats.org/officeDocument/2006/relationships/image" Target="/ppt/media/image6.png" Id="R299bd28861cb483d" /><Relationship Type="http://schemas.openxmlformats.org/officeDocument/2006/relationships/image" Target="/ppt/media/image7.png" Id="Rbf24d874f8304010" /><Relationship Type="http://schemas.openxmlformats.org/officeDocument/2006/relationships/image" Target="/ppt/media/image8.png" Id="R9dcd5395e8a7458c" /><Relationship Type="http://schemas.openxmlformats.org/officeDocument/2006/relationships/notesSlide" Target="/ppt/notesSlides/notesSlide4.xml" Id="R523c4931b38947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6d3b0c7c44d7d" /><Relationship Type="http://schemas.openxmlformats.org/officeDocument/2006/relationships/image" Target="/ppt/media/image9.png" Id="R3b6841413a2b46d0" /><Relationship Type="http://schemas.openxmlformats.org/officeDocument/2006/relationships/notesSlide" Target="/ppt/notesSlides/notesSlide5.xml" Id="Re0e4ad4a208f46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794ed03bb40be" /><Relationship Type="http://schemas.openxmlformats.org/officeDocument/2006/relationships/image" Target="/ppt/media/image10.png" Id="Rcfc3f23a31fb4f99" /><Relationship Type="http://schemas.openxmlformats.org/officeDocument/2006/relationships/image" Target="/ppt/media/image11.png" Id="Re162d26e36a34195" /><Relationship Type="http://schemas.openxmlformats.org/officeDocument/2006/relationships/image" Target="/ppt/media/image12.png" Id="R8154ad8f83be45c5" /><Relationship Type="http://schemas.openxmlformats.org/officeDocument/2006/relationships/image" Target="/ppt/media/image13.png" Id="Rc181ef47099d44b2" /><Relationship Type="http://schemas.openxmlformats.org/officeDocument/2006/relationships/notesSlide" Target="/ppt/notesSlides/notesSlide6.xml" Id="R944253a947ce4d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e19d7bfed404e" /><Relationship Type="http://schemas.openxmlformats.org/officeDocument/2006/relationships/image" Target="/ppt/media/image14.png" Id="R0878c49ffa0849b5" /><Relationship Type="http://schemas.openxmlformats.org/officeDocument/2006/relationships/image" Target="/ppt/media/image15.png" Id="Rcb58f8243d6e4d66" /><Relationship Type="http://schemas.openxmlformats.org/officeDocument/2006/relationships/image" Target="/ppt/media/image16.png" Id="R182849b8c83847eb" /><Relationship Type="http://schemas.openxmlformats.org/officeDocument/2006/relationships/image" Target="/ppt/media/image17.png" Id="Ra41093c6606a4c38" /><Relationship Type="http://schemas.openxmlformats.org/officeDocument/2006/relationships/image" Target="/ppt/media/image18.png" Id="R9b444244cd504ed3" /><Relationship Type="http://schemas.openxmlformats.org/officeDocument/2006/relationships/notesSlide" Target="/ppt/notesSlides/notesSlide7.xml" Id="R9d16269eb6924d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5226ecd1345f7" /><Relationship Type="http://schemas.openxmlformats.org/officeDocument/2006/relationships/image" Target="/ppt/media/image19.png" Id="R2d3924d701104277" /><Relationship Type="http://schemas.openxmlformats.org/officeDocument/2006/relationships/notesSlide" Target="/ppt/notesSlides/notesSlide8.xml" Id="R3e16a64fe08948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7e6d0cc424a88" /><Relationship Type="http://schemas.openxmlformats.org/officeDocument/2006/relationships/notesSlide" Target="/ppt/notesSlides/notesSlide9.xml" Id="Rac3ce75ed0bf40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bf6e1f34d4919" /><Relationship Type="http://schemas.openxmlformats.org/officeDocument/2006/relationships/image" Target="/ppt/media/image20.png" Id="R9a06facb1ba04dfb" /><Relationship Type="http://schemas.openxmlformats.org/officeDocument/2006/relationships/notesSlide" Target="/ppt/notesSlides/notesSlide10.xml" Id="Re859efc17f5440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17cf760114da6" /><Relationship Type="http://schemas.openxmlformats.org/officeDocument/2006/relationships/image" Target="/ppt/media/image21.png" Id="Ra3ce5d24d8fb4a8b" /><Relationship Type="http://schemas.openxmlformats.org/officeDocument/2006/relationships/notesSlide" Target="/ppt/notesSlides/notesSlide11.xml" Id="Rc9d26ced490f4e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b92f3ace64426" /><Relationship Type="http://schemas.openxmlformats.org/officeDocument/2006/relationships/notesSlide" Target="/ppt/notesSlides/notesSlide12.xml" Id="Rcc20e4a2118848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4ee99585b4f3d" /><Relationship Type="http://schemas.openxmlformats.org/officeDocument/2006/relationships/image" Target="/ppt/media/image22.png" Id="R2061467babb44eb1" /><Relationship Type="http://schemas.openxmlformats.org/officeDocument/2006/relationships/image" Target="/ppt/media/image23.png" Id="R656768b0c4234827" /><Relationship Type="http://schemas.openxmlformats.org/officeDocument/2006/relationships/image" Target="/ppt/media/image24.png" Id="Ra3165e52a744481b" /><Relationship Type="http://schemas.openxmlformats.org/officeDocument/2006/relationships/image" Target="/ppt/media/image25.png" Id="R6ac5ad8e8a364465" /><Relationship Type="http://schemas.openxmlformats.org/officeDocument/2006/relationships/image" Target="/ppt/media/image26.png" Id="R55ea1a4dc9b84931" /><Relationship Type="http://schemas.openxmlformats.org/officeDocument/2006/relationships/image" Target="/ppt/media/image27.png" Id="R9fd496ad04134651" /><Relationship Type="http://schemas.openxmlformats.org/officeDocument/2006/relationships/image" Target="/ppt/media/image28.png" Id="R305cabbc3889435d" /><Relationship Type="http://schemas.openxmlformats.org/officeDocument/2006/relationships/image" Target="/ppt/media/image29.png" Id="R885bd895d3184fee" /><Relationship Type="http://schemas.openxmlformats.org/officeDocument/2006/relationships/image" Target="/ppt/media/image30.png" Id="Rfe4c68e0735a46d6" /><Relationship Type="http://schemas.openxmlformats.org/officeDocument/2006/relationships/image" Target="/ppt/media/image31.png" Id="R7439cbc25c594a4d" /><Relationship Type="http://schemas.openxmlformats.org/officeDocument/2006/relationships/image" Target="/ppt/media/image32.png" Id="R3f856f89a965494f" /><Relationship Type="http://schemas.openxmlformats.org/officeDocument/2006/relationships/image" Target="/ppt/media/image33.png" Id="R12adc09c30314389" /><Relationship Type="http://schemas.openxmlformats.org/officeDocument/2006/relationships/notesSlide" Target="/ppt/notesSlides/notesSlide13.xml" Id="Rc45a101017a34fb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6b0ab97d84b7b" /><Relationship Type="http://schemas.openxmlformats.org/officeDocument/2006/relationships/image" Target="/ppt/media/image34.png" Id="Reaee7d5f96cf460b" /><Relationship Type="http://schemas.openxmlformats.org/officeDocument/2006/relationships/image" Target="/ppt/media/image35.png" Id="Rce0585c6b39b43fc" /><Relationship Type="http://schemas.openxmlformats.org/officeDocument/2006/relationships/image" Target="/ppt/media/image36.png" Id="R7ecc4e2d75f64f53" /><Relationship Type="http://schemas.openxmlformats.org/officeDocument/2006/relationships/image" Target="/ppt/media/image37.png" Id="R00160cc808224426" /><Relationship Type="http://schemas.openxmlformats.org/officeDocument/2006/relationships/image" Target="/ppt/media/image38.png" Id="R3083ad0b3f7c4468" /><Relationship Type="http://schemas.openxmlformats.org/officeDocument/2006/relationships/notesSlide" Target="/ppt/notesSlides/notesSlide14.xml" Id="R35e5e30118004d7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995d80d2b4529" /><Relationship Type="http://schemas.openxmlformats.org/officeDocument/2006/relationships/notesSlide" Target="/ppt/notesSlides/notesSlide15.xml" Id="R4be4ce57aae241a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34b0887174a6f" /><Relationship Type="http://schemas.openxmlformats.org/officeDocument/2006/relationships/image" Target="/ppt/media/image39.png" Id="R8c2a4e164fc9453d" /><Relationship Type="http://schemas.openxmlformats.org/officeDocument/2006/relationships/notesSlide" Target="/ppt/notesSlides/notesSlide16.xml" Id="Rfde00f40b06c43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ED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00d68ebdd74a7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3454400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7cae2c86d4f45"/>
          <a:srcRect xmlns:a="http://schemas.openxmlformats.org/drawingml/2006/main" l="0" t="-78" r="0" b="-78"/>
          <a:stretch xmlns:a="http://schemas.openxmlformats.org/drawingml/2006/main"/>
        </p:blipFill>
        <p:spPr>
          <a:xfrm xmlns:a="http://schemas.openxmlformats.org/drawingml/2006/main">
            <a:off x="4025900" y="1244600"/>
            <a:ext cx="1816100" cy="768350"/>
          </a:xfrm>
          <a:prstGeom xmlns:a="http://schemas.openxmlformats.org/drawingml/2006/main" prst="rect">
            <a:avLst/>
          </a:prstGeom>
        </p:spPr>
      </p:pic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DA715767-677C-42BF-BD3E-896D859E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2235200"/>
            <a:ext cx="7534656" cy="16315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6324"/>
              </a:lnSpc>
              <a:buNone/>
            </a:pPr>
            <a:r>
              <a:rPr sz="6200" b="1">
                <a:solidFill>
                  <a:srgbClr val="DA002F"/>
                </a:solidFill>
                <a:latin typeface="Alegreya Sans"/>
                <a:ea typeface="Alegreya Sans"/>
                <a:cs typeface="Alegreya Sans"/>
              </a:rPr>
              <a:t>Storybook for application teams</a:t>
            </a:r>
            <a:endParaRPr sz="62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3C3DBA3E-688B-4B27-85F6-0DC4B68D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400" y="4114800"/>
            <a:ext cx="7508494" cy="523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920"/>
              </a:lnSpc>
              <a:buNone/>
            </a:pPr>
            <a:r>
              <a:rPr sz="2800" b="1" spc="200">
                <a:solidFill>
                  <a:srgbClr val="333333"/>
                </a:solidFill>
                <a:latin typeface="Alegreya Sans"/>
                <a:ea typeface="Alegreya Sans"/>
                <a:cs typeface="Alegreya Sans"/>
              </a:rPr>
              <a:t>PLECTRUM DESIGN SYSTEM</a:t>
            </a:r>
            <a:endParaRPr sz="28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F3431AA7-E68F-4C98-95DC-7C6C8975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400" y="4775200"/>
            <a:ext cx="7508494" cy="309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240"/>
              </a:lnSpc>
              <a:buNone/>
            </a:pPr>
            <a:r>
              <a:rPr sz="16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Use · Contribute · Evolve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3619694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2674F58-D09C-41BD-B3C6-DA234B6D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12800"/>
            <a:ext cx="10883392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 spc="150">
                <a:solidFill>
                  <a:srgbClr val="333333"/>
                </a:solidFill>
                <a:latin typeface="Alegreya Sans"/>
                <a:ea typeface="Alegreya Sans"/>
                <a:cs typeface="Alegreya Sans"/>
              </a:rPr>
              <a:t>STRATEGY — THE SHARED MODEL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BD3681C-C2F1-437D-99B5-9495AF2C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094680"/>
            <a:ext cx="10883392" cy="452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60"/>
              </a:lnSpc>
              <a:buNone/>
            </a:pPr>
            <a:r>
              <a:rPr sz="3200" b="1">
                <a:solidFill>
                  <a:srgbClr val="DA002F"/>
                </a:solidFill>
                <a:latin typeface="Alegreya Sans"/>
                <a:ea typeface="Alegreya Sans"/>
                <a:cs typeface="Alegreya Sans"/>
              </a:rPr>
              <a:t>The shared model and team boundaries</a:t>
            </a:r>
            <a:endParaRPr sz="3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BAE5460-A346-4C75-847A-E2F69797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637730"/>
            <a:ext cx="680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A5A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0116B40-B54F-474D-8295-F1704845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692" y="2351385"/>
            <a:ext cx="7011416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680"/>
              </a:lnSpc>
              <a:buNone/>
            </a:pPr>
            <a:r>
              <a:rPr sz="1200" b="1" spc="1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SHARED BY EVERY TEAM</a:t>
            </a:r>
            <a:endParaRPr sz="1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7A40C6F-041D-448A-BEF2-3C51892C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263773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D5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D414502-2582-4A8F-B457-4C30E1EA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480" y="2351385"/>
            <a:ext cx="313944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680"/>
              </a:lnSpc>
              <a:buNone/>
            </a:pPr>
            <a:r>
              <a:rPr sz="1200" b="1" spc="100">
                <a:solidFill>
                  <a:srgbClr val="1F5A3A"/>
                </a:solidFill>
                <a:latin typeface="Nunito Sans"/>
                <a:ea typeface="Nunito Sans"/>
                <a:cs typeface="Nunito Sans"/>
              </a:rPr>
              <a:t>OWNED BY EACH TEAM</a:t>
            </a:r>
            <a:endParaRPr sz="1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58F4A4B-A462-4BCA-9796-717B957E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0605"/>
            <a:ext cx="3035300" cy="939800"/>
          </a:xfrm>
          <a:prstGeom xmlns:a="http://schemas.openxmlformats.org/drawingml/2006/main" prst="roundRect">
            <a:avLst>
              <a:gd name="adj" fmla="val 10135"/>
            </a:avLst>
          </a:prstGeom>
          <a:solidFill xmlns:a="http://schemas.openxmlformats.org/drawingml/2006/main">
            <a:srgbClr val="FCEEDF"/>
          </a:solidFill>
          <a:ln xmlns:a="http://schemas.openxmlformats.org/drawingml/2006/main" w="12700">
            <a:solidFill>
              <a:srgbClr val="D0680F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F98BCF3-3727-43E1-9C6B-8981762C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9053" y="3037185"/>
            <a:ext cx="826294" cy="452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60"/>
              </a:lnSpc>
              <a:buNone/>
            </a:pPr>
            <a:r>
              <a:rPr sz="2400" b="1">
                <a:solidFill>
                  <a:srgbClr val="B35A0C"/>
                </a:solidFill>
                <a:latin typeface="Alegreya Sans"/>
                <a:ea typeface="Alegreya Sans"/>
                <a:cs typeface="Alegreya Sans"/>
              </a:rPr>
              <a:t>Figma</a:t>
            </a:r>
            <a:endParaRPr sz="2400"/>
          </a:p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0e533174bb477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013200" y="3174305"/>
            <a:ext cx="406400" cy="152400"/>
          </a:xfrm>
          <a:prstGeom xmlns:a="http://schemas.openxmlformats.org/drawingml/2006/main" prst="rect">
            <a:avLst/>
          </a:prstGeom>
        </p:spPr>
      </p:pic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74EF898-5E2C-483D-9A55-2F21E8D0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780605"/>
            <a:ext cx="3035300" cy="939800"/>
          </a:xfrm>
          <a:prstGeom xmlns:a="http://schemas.openxmlformats.org/drawingml/2006/main" prst="roundRect">
            <a:avLst>
              <a:gd name="adj" fmla="val 10135"/>
            </a:avLst>
          </a:prstGeom>
          <a:solidFill xmlns:a="http://schemas.openxmlformats.org/drawingml/2006/main">
            <a:srgbClr val="E3ECF3"/>
          </a:solidFill>
          <a:ln xmlns:a="http://schemas.openxmlformats.org/drawingml/2006/main" w="12700">
            <a:solidFill>
              <a:srgbClr val="487395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D95803F-E25F-48BA-AF23-7DAE9A0A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302" y="3037185"/>
            <a:ext cx="1194197" cy="452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60"/>
              </a:lnSpc>
              <a:buNone/>
            </a:pPr>
            <a:r>
              <a:rPr sz="2400" b="1">
                <a:solidFill>
                  <a:srgbClr val="2E526D"/>
                </a:solidFill>
                <a:latin typeface="Alegreya Sans"/>
                <a:ea typeface="Alegreya Sans"/>
                <a:cs typeface="Alegreya Sans"/>
              </a:rPr>
              <a:t>Plectrum</a:t>
            </a:r>
            <a:endParaRPr sz="2400"/>
          </a:p>
        </p:txBody>
      </p:sp>
      <p:pic>
        <p:nvPicPr>
          <p:cNvPr id="3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9c5120b36478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772400" y="3174305"/>
            <a:ext cx="406400" cy="152400"/>
          </a:xfrm>
          <a:prstGeom xmlns:a="http://schemas.openxmlformats.org/drawingml/2006/main" prst="rect">
            <a:avLst/>
          </a:prstGeom>
        </p:spPr>
      </p:pic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131DB03C-6E3B-4199-A5F1-D57DCC34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7550" y="2780605"/>
            <a:ext cx="3035300" cy="939800"/>
          </a:xfrm>
          <a:prstGeom xmlns:a="http://schemas.openxmlformats.org/drawingml/2006/main" prst="roundRect">
            <a:avLst>
              <a:gd name="adj" fmla="val 10135"/>
            </a:avLst>
          </a:prstGeom>
          <a:solidFill xmlns:a="http://schemas.openxmlformats.org/drawingml/2006/main">
            <a:srgbClr val="E2F1E7"/>
          </a:solidFill>
          <a:ln xmlns:a="http://schemas.openxmlformats.org/drawingml/2006/main" w="12700">
            <a:solidFill>
              <a:srgbClr val="2F7D52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F2D4CD90-9B9F-4DE3-B6EB-406D29E6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5913" y="3037185"/>
            <a:ext cx="2305628" cy="452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60"/>
              </a:lnSpc>
              <a:buNone/>
            </a:pPr>
            <a:r>
              <a:rPr sz="2400" b="1">
                <a:solidFill>
                  <a:srgbClr val="1F5A3A"/>
                </a:solidFill>
                <a:latin typeface="Alegreya Sans"/>
                <a:ea typeface="Alegreya Sans"/>
                <a:cs typeface="Alegreya Sans"/>
              </a:rPr>
              <a:t>Application teams</a:t>
            </a:r>
            <a:endParaRPr sz="24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8840E4FD-B409-40E5-8022-25165903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80" y="3853755"/>
            <a:ext cx="3139440" cy="5230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960"/>
              </a:lnSpc>
              <a:buNone/>
            </a:pPr>
            <a:r>
              <a:rPr sz="14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Shared visual decisions</a:t>
            </a:r>
            <a:endParaRPr sz="14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F870E5E-3354-4FCE-B3FD-CC69A6B6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853755"/>
            <a:ext cx="3139440" cy="5230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960"/>
              </a:lnSpc>
              <a:buNone/>
            </a:pPr>
            <a:r>
              <a:rPr sz="14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Shared code + contracts</a:t>
            </a:r>
            <a:endParaRPr sz="1400"/>
          </a:p>
          <a:p xmlns:a="http://schemas.openxmlformats.org/drawingml/2006/main">
            <a:pPr marL="0" indent="0" algn="ctr">
              <a:lnSpc>
                <a:spcPts val="1960"/>
              </a:lnSpc>
              <a:buNone/>
            </a:pPr>
            <a:r>
              <a:rPr sz="14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Storybook + packages</a:t>
            </a:r>
            <a:endParaRPr sz="14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4DCEAFFB-41F3-4C8B-827B-DE680D13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5480" y="3853755"/>
            <a:ext cx="3139440" cy="5230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960"/>
              </a:lnSpc>
              <a:buNone/>
            </a:pPr>
            <a:r>
              <a:rPr sz="14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Own repositories</a:t>
            </a:r>
            <a:endParaRPr sz="1400"/>
          </a:p>
          <a:p xmlns:a="http://schemas.openxmlformats.org/drawingml/2006/main">
            <a:pPr marL="0" indent="0" algn="ctr">
              <a:lnSpc>
                <a:spcPts val="1960"/>
              </a:lnSpc>
              <a:buNone/>
            </a:pPr>
            <a:r>
              <a:rPr sz="14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Screens + local Candidates</a:t>
            </a:r>
            <a:endParaRPr sz="14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08184292-059F-4C47-8FA5-8903530E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181600"/>
            <a:ext cx="10566400" cy="6604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B2B2E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E6A57B94-CAE0-4469-9F06-797FB7A1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334000"/>
            <a:ext cx="1046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2800"/>
              </a:lnSpc>
              <a:buNone/>
            </a:pPr>
            <a:r>
              <a:rPr sz="2000" b="1">
                <a:solidFill>
                  <a:srgbClr val="FFFFFF"/>
                </a:solidFill>
                <a:latin typeface="Alegreya Sans"/>
                <a:ea typeface="Alegreya Sans"/>
                <a:cs typeface="Alegreya Sans"/>
              </a:rPr>
              <a:t>One shared system. Each team owns its application.</a:t>
            </a:r>
            <a:endParaRPr sz="20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8FB0716C-02EA-4D27-97DA-EA98F301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238280"/>
            <a:ext cx="78486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Plectrum · Storybook for application teams</a:t>
            </a:r>
            <a:endParaRPr sz="12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6EB56AE9-05C4-4161-9CFC-ADF97440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400" y="6238280"/>
            <a:ext cx="10668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02 / 16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8849272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E7A445D-9F68-4999-BA2B-A37DAC26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12800"/>
            <a:ext cx="10883392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 spc="150">
                <a:solidFill>
                  <a:srgbClr val="333333"/>
                </a:solidFill>
                <a:latin typeface="Alegreya Sans"/>
                <a:ea typeface="Alegreya Sans"/>
                <a:cs typeface="Alegreya Sans"/>
              </a:rPr>
              <a:t>USING PLECTRUM — BUILD WITH PLECTRUM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61DA18F-F991-465D-AEC7-E2BCD7F0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094680"/>
            <a:ext cx="10883392" cy="452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60"/>
              </a:lnSpc>
              <a:buNone/>
            </a:pPr>
            <a:r>
              <a:rPr sz="3200" b="1">
                <a:solidFill>
                  <a:srgbClr val="DA002F"/>
                </a:solidFill>
                <a:latin typeface="Alegreya Sans"/>
                <a:ea typeface="Alegreya Sans"/>
                <a:cs typeface="Alegreya Sans"/>
              </a:rPr>
              <a:t>One install prepares the team workspace</a:t>
            </a:r>
            <a:endParaRPr sz="3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743C24C-B836-4D76-BD78-CEEADCA9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" y="1702296"/>
            <a:ext cx="4819650" cy="3102570"/>
          </a:xfrm>
          <a:prstGeom xmlns:a="http://schemas.openxmlformats.org/drawingml/2006/main" prst="roundRect">
            <a:avLst>
              <a:gd name="adj" fmla="val 3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BD3D9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BC5F264-8FA7-45B7-A961-2E7CD47B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" y="1857871"/>
            <a:ext cx="4591431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 spc="100">
                <a:solidFill>
                  <a:srgbClr val="2E526D"/>
                </a:solidFill>
                <a:latin typeface="Nunito Sans"/>
                <a:ea typeface="Nunito Sans"/>
                <a:cs typeface="Nunito Sans"/>
              </a:rPr>
              <a:t>FOUR PACKAGES · PRIVATE, GITHUB PACKAGES</a:t>
            </a:r>
            <a:endParaRPr sz="1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75CCA86-8619-430B-B7BB-DAA2659E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" y="2237879"/>
            <a:ext cx="1473200" cy="307280"/>
          </a:xfrm>
          <a:prstGeom xmlns:a="http://schemas.openxmlformats.org/drawingml/2006/main" prst="roundRect">
            <a:avLst>
              <a:gd name="adj" fmla="val 16532"/>
            </a:avLst>
          </a:prstGeom>
          <a:solidFill xmlns:a="http://schemas.openxmlformats.org/drawingml/2006/main">
            <a:srgbClr val="E3ECF3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CB3C5F6-916F-4F0D-B3DE-E62929D2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75979"/>
            <a:ext cx="1346200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2E526D"/>
                </a:solidFill>
                <a:latin typeface="JetBrains Mono"/>
                <a:ea typeface="JetBrains Mono"/>
                <a:cs typeface="JetBrains Mono"/>
              </a:rPr>
              <a:t>pds-ui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3C4FFB6-8005-4848-891D-E3180A37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92449"/>
            <a:ext cx="2903982" cy="223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560"/>
              </a:lnSpc>
              <a:buNone/>
            </a:pPr>
            <a:r>
              <a:rPr sz="1200">
                <a:solidFill>
                  <a:srgbClr val="46464C"/>
                </a:solidFill>
                <a:latin typeface="Nunito Sans"/>
                <a:ea typeface="Nunito Sans"/>
                <a:cs typeface="Nunito Sans"/>
              </a:rPr>
              <a:t>Shared Angular components</a:t>
            </a:r>
            <a:endParaRPr sz="12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E461788-F301-4397-BF68-A08904E4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" y="2711847"/>
            <a:ext cx="1473200" cy="307280"/>
          </a:xfrm>
          <a:prstGeom xmlns:a="http://schemas.openxmlformats.org/drawingml/2006/main" prst="roundRect">
            <a:avLst>
              <a:gd name="adj" fmla="val 16532"/>
            </a:avLst>
          </a:prstGeom>
          <a:solidFill xmlns:a="http://schemas.openxmlformats.org/drawingml/2006/main">
            <a:srgbClr val="E3ECF3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8DA8416-78F8-46FF-8762-0C1252AE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49947"/>
            <a:ext cx="1346200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2E526D"/>
                </a:solidFill>
                <a:latin typeface="JetBrains Mono"/>
                <a:ea typeface="JetBrains Mono"/>
                <a:cs typeface="JetBrains Mono"/>
              </a:rPr>
              <a:t>pds-plectrum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E3C607E-BEBF-4D15-A2BE-FB013B29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66417"/>
            <a:ext cx="2903982" cy="223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560"/>
              </a:lnSpc>
              <a:buNone/>
            </a:pPr>
            <a:r>
              <a:rPr sz="1200">
                <a:solidFill>
                  <a:srgbClr val="46464C"/>
                </a:solidFill>
                <a:latin typeface="Nunito Sans"/>
                <a:ea typeface="Nunito Sans"/>
                <a:cs typeface="Nunito Sans"/>
              </a:rPr>
              <a:t>PrimeNG presets + providePlectrum()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CEA7065-C8DF-4641-81AA-4CD4D6FB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" y="3185914"/>
            <a:ext cx="1473200" cy="307280"/>
          </a:xfrm>
          <a:prstGeom xmlns:a="http://schemas.openxmlformats.org/drawingml/2006/main" prst="roundRect">
            <a:avLst>
              <a:gd name="adj" fmla="val 16532"/>
            </a:avLst>
          </a:prstGeom>
          <a:solidFill xmlns:a="http://schemas.openxmlformats.org/drawingml/2006/main">
            <a:srgbClr val="E3ECF3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0606F4F-B1D4-4045-BBCD-981CAE2F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24014"/>
            <a:ext cx="1346200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2E526D"/>
                </a:solidFill>
                <a:latin typeface="JetBrains Mono"/>
                <a:ea typeface="JetBrains Mono"/>
                <a:cs typeface="JetBrains Mono"/>
              </a:rPr>
              <a:t>pds-styles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333BF8A-E134-42DF-B424-9646D360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40484"/>
            <a:ext cx="2903982" cy="223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560"/>
              </a:lnSpc>
              <a:buNone/>
            </a:pPr>
            <a:r>
              <a:rPr sz="1200">
                <a:solidFill>
                  <a:srgbClr val="46464C"/>
                </a:solidFill>
                <a:latin typeface="Nunito Sans"/>
                <a:ea typeface="Nunito Sans"/>
                <a:cs typeface="Nunito Sans"/>
              </a:rPr>
              <a:t>ITCSS styles and --pds-* tokens</a:t>
            </a:r>
            <a:endParaRPr sz="12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BF84C64-DBB6-458E-BDC0-700056C0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" y="3704233"/>
            <a:ext cx="1473200" cy="307280"/>
          </a:xfrm>
          <a:prstGeom xmlns:a="http://schemas.openxmlformats.org/drawingml/2006/main" prst="roundRect">
            <a:avLst>
              <a:gd name="adj" fmla="val 16532"/>
            </a:avLst>
          </a:prstGeom>
          <a:solidFill xmlns:a="http://schemas.openxmlformats.org/drawingml/2006/main">
            <a:srgbClr val="E2F1E7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3849EF3-6CD5-4109-BF55-2F23A503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42333"/>
            <a:ext cx="1346200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1F5A3A"/>
                </a:solidFill>
                <a:latin typeface="JetBrains Mono"/>
                <a:ea typeface="JetBrains Mono"/>
                <a:cs typeface="JetBrains Mono"/>
              </a:rPr>
              <a:t>pds-devkit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6FA156F-8B45-428E-80CF-88043D9B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59882"/>
            <a:ext cx="2903982" cy="4214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560"/>
              </a:lnSpc>
              <a:buNone/>
            </a:pPr>
            <a:r>
              <a:rPr sz="1200">
                <a:solidFill>
                  <a:srgbClr val="46464C"/>
                </a:solidFill>
                <a:latin typeface="Nunito Sans"/>
                <a:ea typeface="Nunito Sans"/>
                <a:cs typeface="Nunito Sans"/>
              </a:rPr>
              <a:t>CLI, Storybook, tests, agents and contracts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5F4535F-A317-4E5E-A825-6463A662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" y="4222651"/>
            <a:ext cx="4591431" cy="452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The three runtime packages version together — upgrade them as a set. The toolkit versions on its own.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4CB849D-892A-43AA-BB06-BD5A0985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1699121"/>
            <a:ext cx="5703316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 spc="100">
                <a:solidFill>
                  <a:srgbClr val="1F5A3A"/>
                </a:solidFill>
                <a:latin typeface="Nunito Sans"/>
                <a:ea typeface="Nunito Sans"/>
                <a:cs typeface="Nunito Sans"/>
              </a:rPr>
              <a:t>IN EACH TEAM'S OWN REPO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C6AD5F7-10FD-477B-AEB4-D451396A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175" y="1979116"/>
            <a:ext cx="5530850" cy="412750"/>
          </a:xfrm>
          <a:prstGeom xmlns:a="http://schemas.openxmlformats.org/drawingml/2006/main" prst="roundRect">
            <a:avLst>
              <a:gd name="adj" fmla="val 1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BD3D9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677F23F-108D-4CC9-A430-9BA452C9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950" y="2045791"/>
            <a:ext cx="279400" cy="279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2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3FF7538-3FBE-43CC-9246-17FD04D6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3910" y="2078831"/>
            <a:ext cx="14228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1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32D2D95-0D98-4BF2-BC7A-E95DC4C8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950" y="2069902"/>
            <a:ext cx="5036185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46464C"/>
                </a:solidFill>
                <a:latin typeface="Nunito Sans"/>
                <a:ea typeface="Nunito Sans"/>
                <a:cs typeface="Nunito Sans"/>
              </a:rPr>
              <a:t>Install — use the starter and private packages</a:t>
            </a:r>
            <a:endParaRPr sz="13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36BD49F-F8B1-4181-95A0-23DB3438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175" y="2461716"/>
            <a:ext cx="5530850" cy="412750"/>
          </a:xfrm>
          <a:prstGeom xmlns:a="http://schemas.openxmlformats.org/drawingml/2006/main" prst="roundRect">
            <a:avLst>
              <a:gd name="adj" fmla="val 1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BD3D9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96D4386-8D29-4A6E-A579-9B1BC65A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950" y="2528391"/>
            <a:ext cx="279400" cy="279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2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3A1F769-D8DE-48A0-BE39-3FFEB1C2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3910" y="2561431"/>
            <a:ext cx="14228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2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7310317-0953-479F-BE1E-CF4977FE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950" y="2552502"/>
            <a:ext cx="5036185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46464C"/>
                </a:solidFill>
                <a:latin typeface="Nunito Sans"/>
                <a:ea typeface="Nunito Sans"/>
                <a:cs typeface="Nunito Sans"/>
              </a:rPr>
              <a:t>Bootstrap — ITCSS, Storybook, tests, agents and CI</a:t>
            </a:r>
            <a:endParaRPr sz="13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64D7B09-166B-4165-B6EE-A724F03C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175" y="2944316"/>
            <a:ext cx="5530850" cy="412750"/>
          </a:xfrm>
          <a:prstGeom xmlns:a="http://schemas.openxmlformats.org/drawingml/2006/main" prst="roundRect">
            <a:avLst>
              <a:gd name="adj" fmla="val 1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BD3D9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9653E1B-37D7-44D5-8BC8-DB7B27D7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950" y="3010991"/>
            <a:ext cx="279400" cy="279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2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E48A8C6-E629-4DC2-ABB4-8D8C1DE9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3910" y="3044031"/>
            <a:ext cx="14228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3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18DF2CD-4E70-4FAC-9953-77CB561A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950" y="3035102"/>
            <a:ext cx="5036185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46464C"/>
                </a:solidFill>
                <a:latin typeface="Nunito Sans"/>
                <a:ea typeface="Nunito Sans"/>
                <a:cs typeface="Nunito Sans"/>
              </a:rPr>
              <a:t>Build — theme, shared styles and local layers</a:t>
            </a:r>
            <a:endParaRPr sz="13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B6115E6B-1438-4FF2-9947-C5D30725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175" y="3426916"/>
            <a:ext cx="5530850" cy="412750"/>
          </a:xfrm>
          <a:prstGeom xmlns:a="http://schemas.openxmlformats.org/drawingml/2006/main" prst="roundRect">
            <a:avLst>
              <a:gd name="adj" fmla="val 1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BD3D9"/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4E645671-EA62-450C-BD37-8F9C26D4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950" y="3493591"/>
            <a:ext cx="279400" cy="279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2"/>
          </a:solidFill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DF035AF2-7A31-4045-BEF6-835A92C8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3910" y="3526631"/>
            <a:ext cx="14228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4</a:t>
            </a:r>
            <a:endParaRPr sz="12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27F542A0-6162-4899-96C9-7D8DA9BE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950" y="3517702"/>
            <a:ext cx="5036185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46464C"/>
                </a:solidFill>
                <a:latin typeface="Nunito Sans"/>
                <a:ea typeface="Nunito Sans"/>
                <a:cs typeface="Nunito Sans"/>
              </a:rPr>
              <a:t>Validate — app build, tests and Plectrum checks</a:t>
            </a:r>
            <a:endParaRPr sz="130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B0C50B68-7CCF-467A-9F4F-C7303C57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175" y="3909516"/>
            <a:ext cx="5530850" cy="412750"/>
          </a:xfrm>
          <a:prstGeom xmlns:a="http://schemas.openxmlformats.org/drawingml/2006/main" prst="roundRect">
            <a:avLst>
              <a:gd name="adj" fmla="val 1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BD3D9"/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8238539C-58F9-4284-A5EA-6A853B20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950" y="3976191"/>
            <a:ext cx="279400" cy="279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2"/>
          </a:solidFill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AA35DA8F-F68A-4CCC-A096-8D55108B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3910" y="4009231"/>
            <a:ext cx="14228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5</a:t>
            </a:r>
            <a:endParaRPr sz="12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B91D67D8-E920-4E1B-B414-3E91A0F8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950" y="4000302"/>
            <a:ext cx="5036185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46464C"/>
                </a:solidFill>
                <a:latin typeface="Nunito Sans"/>
                <a:ea typeface="Nunito Sans"/>
                <a:cs typeface="Nunito Sans"/>
              </a:rPr>
              <a:t>Adopt</a:t>
            </a:r>
            <a:r>
              <a:rPr sz="1300">
                <a:solidFill>
                  <a:srgbClr val="46464C"/>
                </a:solidFill>
                <a:latin typeface="Nunito Sans"/>
                <a:ea typeface="Nunito Sans"/>
                <a:cs typeface="Nunito Sans"/>
              </a:rPr>
              <a:t> — report installed versions and component usage</a:t>
            </a:r>
            <a:endParaRPr sz="130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F799D485-0447-414A-8298-DA8E0157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175" y="4392116"/>
            <a:ext cx="5530850" cy="412750"/>
          </a:xfrm>
          <a:prstGeom xmlns:a="http://schemas.openxmlformats.org/drawingml/2006/main" prst="roundRect">
            <a:avLst>
              <a:gd name="adj" fmla="val 1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BD3D9"/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9695FE12-2183-447F-992F-CE4BDD28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950" y="4458791"/>
            <a:ext cx="279400" cy="279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2"/>
          </a:solidFill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56C348DA-5A78-46FA-9165-09279BE8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3910" y="4491831"/>
            <a:ext cx="14228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6</a:t>
            </a:r>
            <a:endParaRPr sz="12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1F64822D-6108-411E-9B27-E5F4F537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950" y="4482902"/>
            <a:ext cx="5036185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46464C"/>
                </a:solidFill>
                <a:latin typeface="Nunito Sans"/>
                <a:ea typeface="Nunito Sans"/>
                <a:cs typeface="Nunito Sans"/>
              </a:rPr>
              <a:t>Upgrade</a:t>
            </a:r>
            <a:r>
              <a:rPr sz="1300">
                <a:solidFill>
                  <a:srgbClr val="46464C"/>
                </a:solidFill>
                <a:latin typeface="Nunito Sans"/>
                <a:ea typeface="Nunito Sans"/>
                <a:cs typeface="Nunito Sans"/>
              </a:rPr>
              <a:t> — Renovate / Dependabot PRs, then plectrum update</a:t>
            </a:r>
            <a:endParaRPr sz="130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41820F57-CB61-4108-A20F-B28CA39A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985841"/>
            <a:ext cx="10566400" cy="502841"/>
          </a:xfrm>
          <a:prstGeom xmlns:a="http://schemas.openxmlformats.org/drawingml/2006/main" prst="roundRect">
            <a:avLst>
              <a:gd name="adj" fmla="val 20205"/>
            </a:avLst>
          </a:prstGeom>
          <a:solidFill xmlns:a="http://schemas.openxmlformats.org/drawingml/2006/main">
            <a:srgbClr val="2B2B2E"/>
          </a:solidFill>
        </p:spPr>
      </p:sp>
      <p:pic>
        <p:nvPicPr>
          <p:cNvPr id="9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fce3603b9406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16000" y="5122962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0C216583-6E21-4952-823C-A2608268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2841"/>
            <a:ext cx="7651567" cy="2742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960"/>
              </a:lnSpc>
              <a:buNone/>
            </a:pPr>
            <a:r>
              <a:rPr sz="1400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Shared values stay in packages; local ITCSS and .ai are generated.</a:t>
            </a:r>
            <a:endParaRPr sz="1400"/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8EC6D1FB-7750-4D89-A167-6CDFCB76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238280"/>
            <a:ext cx="78486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Plectrum · Storybook for application teams</a:t>
            </a:r>
            <a:endParaRPr sz="1200"/>
          </a:p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6DB47632-6A62-4433-BB09-C4D10B16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400" y="6238280"/>
            <a:ext cx="10668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03 / 16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713100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1278E5A-2E9E-4714-B79A-DBEA6DA7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12800"/>
            <a:ext cx="10883392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 spc="150">
                <a:solidFill>
                  <a:srgbClr val="333333"/>
                </a:solidFill>
                <a:latin typeface="Alegreya Sans"/>
                <a:ea typeface="Alegreya Sans"/>
                <a:cs typeface="Alegreya Sans"/>
              </a:rPr>
              <a:t>STRATEGY — SCALABILITY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83AE081-70E6-4F97-ABA4-4B6F4781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094680"/>
            <a:ext cx="10883392" cy="452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60"/>
              </a:lnSpc>
              <a:buNone/>
            </a:pPr>
            <a:r>
              <a:rPr sz="3200" b="1">
                <a:solidFill>
                  <a:srgbClr val="DA002F"/>
                </a:solidFill>
                <a:latin typeface="Alegreya Sans"/>
                <a:ea typeface="Alegreya Sans"/>
                <a:cs typeface="Alegreya Sans"/>
              </a:rPr>
              <a:t>Scalability through shared sources</a:t>
            </a:r>
            <a:endParaRPr sz="3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EC4ED39-2A18-4588-A814-DADAF790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020391"/>
            <a:ext cx="1056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9A5A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D4493AB-097A-4D58-A6A7-EDF175B6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724521"/>
            <a:ext cx="536321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 spc="1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AUTHORITATIVE SOURCE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A49ADD-1C23-4D7F-852B-E9D3E9BD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24521"/>
            <a:ext cx="5520182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 spc="1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GENERATED OR RENDERED VIEWS</a:t>
            </a:r>
            <a:endParaRPr sz="12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91F810F-6EBA-4932-9E95-FDC8CEBB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842617"/>
            <a:ext cx="1056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BD3D9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89613C5-8254-484D-906F-F58F92EC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153741"/>
            <a:ext cx="4185920" cy="345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520"/>
              </a:lnSpc>
              <a:buNone/>
            </a:pPr>
            <a:r>
              <a:rPr sz="1800" b="1">
                <a:solidFill>
                  <a:srgbClr val="B35A0C"/>
                </a:solidFill>
                <a:latin typeface="Nunito Sans"/>
                <a:ea typeface="Nunito Sans"/>
                <a:cs typeface="Nunito Sans"/>
              </a:rPr>
              <a:t>Token sources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0D49D20-61D2-4D48-A374-3C7F1434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499122"/>
            <a:ext cx="418592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Imported Figma values and code-owned settings</a:t>
            </a:r>
            <a:endParaRPr sz="1200"/>
          </a:p>
        </p:txBody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bd28861cb483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130800" y="2369542"/>
            <a:ext cx="635000" cy="127000"/>
          </a:xfrm>
          <a:prstGeom xmlns:a="http://schemas.openxmlformats.org/drawingml/2006/main" prst="rect">
            <a:avLst/>
          </a:prstGeom>
        </p:spPr>
      </p:pic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FE3E0C8-E4F7-4874-A332-5925E34B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55242"/>
            <a:ext cx="5520182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00"/>
              </a:lnSpc>
              <a:buNone/>
            </a:pPr>
            <a:r>
              <a:rPr sz="20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CSS + Foundations</a:t>
            </a:r>
            <a:endParaRPr sz="20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EC88882-D136-4BD5-8D80-08F5BCC5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661668"/>
            <a:ext cx="1056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BD3D9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491F6D7-D992-453B-A739-1251AEE9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972792"/>
            <a:ext cx="4185920" cy="345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520"/>
              </a:lnSpc>
              <a:buNone/>
            </a:pPr>
            <a:r>
              <a:rPr sz="1800" b="1">
                <a:solidFill>
                  <a:srgbClr val="2E526D"/>
                </a:solidFill>
                <a:latin typeface="Nunito Sans"/>
                <a:ea typeface="Nunito Sans"/>
                <a:cs typeface="Nunito Sans"/>
              </a:rPr>
              <a:t>Component metadata</a:t>
            </a:r>
            <a:endParaRPr sz="18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4C0D3B1-D939-4EC7-9F1D-53BC3781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318173"/>
            <a:ext cx="418592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One contract beside the component</a:t>
            </a:r>
            <a:endParaRPr sz="1200"/>
          </a:p>
        </p:txBody>
      </p:sp>
      <p:pic>
        <p:nvPicPr>
          <p:cNvPr id="4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4d874f830401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130800" y="3188593"/>
            <a:ext cx="635000" cy="127000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39C870A-6693-40B6-BAE6-7E91BE19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74293"/>
            <a:ext cx="5520182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00"/>
              </a:lnSpc>
              <a:buNone/>
            </a:pPr>
            <a:r>
              <a:rPr sz="20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Docs + catalogue + agent index</a:t>
            </a:r>
            <a:endParaRPr sz="20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71A3C013-E345-4F66-A636-B05D7431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694039"/>
            <a:ext cx="1056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BD3D9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7F8D2477-9122-4558-BAF0-6058A998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791843"/>
            <a:ext cx="4185920" cy="345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520"/>
              </a:lnSpc>
              <a:buNone/>
            </a:pPr>
            <a:r>
              <a:rPr sz="1800" b="1">
                <a:solidFill>
                  <a:srgbClr val="1F5A3A"/>
                </a:solidFill>
                <a:latin typeface="Nunito Sans"/>
                <a:ea typeface="Nunito Sans"/>
                <a:cs typeface="Nunito Sans"/>
              </a:rPr>
              <a:t>Contribution steps</a:t>
            </a:r>
            <a:endParaRPr sz="18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71F89B4-D377-4227-872F-C7C3C200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137223"/>
            <a:ext cx="4185920" cy="452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Example: change a review step once in process.json, then regenerate.</a:t>
            </a:r>
            <a:endParaRPr sz="1200"/>
          </a:p>
        </p:txBody>
      </p:sp>
      <p:pic>
        <p:nvPicPr>
          <p:cNvPr id="4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d5395e8a7458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130800" y="4114304"/>
            <a:ext cx="635000" cy="127000"/>
          </a:xfrm>
          <a:prstGeom xmlns:a="http://schemas.openxmlformats.org/drawingml/2006/main" prst="rect">
            <a:avLst/>
          </a:prstGeom>
        </p:spPr>
      </p:pic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B0A4D593-68BC-423B-AD5A-2A7B7920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00004"/>
            <a:ext cx="5520182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00"/>
              </a:lnSpc>
              <a:buNone/>
            </a:pPr>
            <a:r>
              <a:rPr sz="20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Docs + CLI + agent instructions</a:t>
            </a:r>
            <a:endParaRPr sz="2000"/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83C41E9B-628B-4240-AEDB-C61828E8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834" y="4900414"/>
            <a:ext cx="3432332" cy="3056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2223"/>
              </a:lnSpc>
              <a:buNone/>
            </a:pPr>
            <a:r>
              <a:rPr sz="1588" b="1">
                <a:solidFill>
                  <a:srgbClr val="DA002F"/>
                </a:solidFill>
                <a:latin typeface="Alegreya Sans"/>
                <a:ea typeface="Alegreya Sans"/>
                <a:cs typeface="Alegreya Sans"/>
              </a:rPr>
              <a:t>Fewer copies to maintain. CI detects drift.</a:t>
            </a:r>
            <a:endParaRPr sz="1588"/>
          </a:p>
        </p:txBody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7CDD2322-3F15-42C5-82A8-C723D0BF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555" y="5282307"/>
            <a:ext cx="3950891" cy="3052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ECF3"/>
          </a:solidFill>
        </p:spPr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2F59BC36-5E9D-4E88-8606-2C5A775A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755" y="5345807"/>
            <a:ext cx="3650825" cy="2036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421"/>
              </a:lnSpc>
              <a:buNone/>
            </a:pPr>
            <a:r>
              <a:rPr sz="1015" b="1">
                <a:solidFill>
                  <a:srgbClr val="2E526D"/>
                </a:solidFill>
                <a:latin typeface="Nunito Sans"/>
                <a:ea typeface="Nunito Sans"/>
                <a:cs typeface="Nunito Sans"/>
              </a:rPr>
              <a:t>CSS: ITCSS layers + BEMIT naming + shared --pds-* tokens</a:t>
            </a:r>
            <a:endParaRPr sz="1015"/>
          </a:p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0FF93D8B-5E83-4DC5-903B-649C7ED0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131" y="5689203"/>
            <a:ext cx="2284167" cy="1781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223"/>
              </a:lnSpc>
              <a:buNone/>
            </a:pPr>
            <a:r>
              <a:rPr sz="874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Storybook reference: Docs / CSS architecture</a:t>
            </a:r>
            <a:endParaRPr sz="874"/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BE16364C-C9F1-4455-AB4D-BB578AC3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238280"/>
            <a:ext cx="78486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Plectrum · Storybook for application teams</a:t>
            </a:r>
            <a:endParaRPr sz="1200"/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4A4737F-6C3A-455D-9714-B56C42EE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400" y="6238280"/>
            <a:ext cx="10668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04 / 16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7027374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9EDCFD7-DD94-4445-9A76-580DA49A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12800"/>
            <a:ext cx="10883392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 spc="150">
                <a:solidFill>
                  <a:srgbClr val="333333"/>
                </a:solidFill>
                <a:latin typeface="Alegreya Sans"/>
                <a:ea typeface="Alegreya Sans"/>
                <a:cs typeface="Alegreya Sans"/>
              </a:rPr>
              <a:t>LOW MAINTENANCE — SINGLE SOURCES OF TRUTH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9A6EAB8-F42E-4AAD-93D0-9A80E604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094680"/>
            <a:ext cx="10883392" cy="452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60"/>
              </a:lnSpc>
              <a:buNone/>
            </a:pPr>
            <a:r>
              <a:rPr sz="3200" b="1">
                <a:solidFill>
                  <a:srgbClr val="DA002F"/>
                </a:solidFill>
                <a:latin typeface="Alegreya Sans"/>
                <a:ea typeface="Alegreya Sans"/>
                <a:cs typeface="Alegreya Sans"/>
              </a:rPr>
              <a:t>Each fact is written once; the rest is generated</a:t>
            </a:r>
            <a:endParaRPr sz="3200"/>
          </a:p>
        </p:txBody>
      </p:sp>
      <p:graphicFrame>
        <p:nvGraphicFramePr>
          <p:cNvPr id="14" name="Table 0"/>
          <p:cNvGraphicFramePr/>
          <p:nvPr/>
        </p:nvGraphicFramePr>
        <p:xfrm>
          <a:off xmlns:a="http://schemas.openxmlformats.org/drawingml/2006/main" x="825500" y="1762621"/>
          <a:ext xmlns:a="http://schemas.openxmlformats.org/drawingml/2006/main" cx="10553700" cy="2328069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49499"/>
                <a:gridCol w="4960239"/>
                <a:gridCol w="2743962"/>
              </a:tblGrid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Written once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BDC0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BDC0"/>
                      </a:solidFill>
                      <a:prstDash val="solid"/>
                    </a:lnB>
                    <a:solidFill>
                      <a:srgbClr val="FFE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Feeds automatically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BDC0"/>
                      </a:solidFill>
                      <a:prstDash val="solid"/>
                    </a:lnL>
                    <a:lnR w="12700" cmpd="sng">
                      <a:solidFill>
                        <a:srgbClr val="CBBDC0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BDC0"/>
                      </a:solidFill>
                      <a:prstDash val="solid"/>
                    </a:lnB>
                    <a:solidFill>
                      <a:srgbClr val="FFE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Guarded by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BDC0"/>
                      </a:solidFill>
                      <a:prstDash val="solid"/>
                    </a:lnL>
                    <a:lnR w="12700" cmpd="sng">
                      <a:solidFill>
                        <a:srgbClr val="CBBDC0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BDC0"/>
                      </a:solidFill>
                      <a:prstDash val="solid"/>
                    </a:lnB>
                    <a:solidFill>
                      <a:srgbClr val="FFEDF1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{name}.metadata.ts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BDC0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component page, catalogue row, index, agent catalogue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BDC0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docs:check · contracts:check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BDC0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tokens.json (Figma)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--pds-* CSS, Foundations pages, token finder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drift audit · build diff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Process and registry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Process page, plectrum help, agent guidance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contracts:check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ci.yml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the CI gates table in Storybook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contracts:generate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Agent roles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Cursor and VS Code agents in every repo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CI drift check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Changesets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versions and What's new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changelog build diff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D1994B5-0C85-4C34-B06C-B2E5B28F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319290"/>
            <a:ext cx="10566400" cy="528241"/>
          </a:xfrm>
          <a:prstGeom xmlns:a="http://schemas.openxmlformats.org/drawingml/2006/main" prst="roundRect">
            <a:avLst>
              <a:gd name="adj" fmla="val 19234"/>
            </a:avLst>
          </a:prstGeom>
          <a:solidFill xmlns:a="http://schemas.openxmlformats.org/drawingml/2006/main">
            <a:srgbClr val="2B2B2E"/>
          </a:solidFill>
        </p:spPr>
      </p:sp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841413a2b46d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16000" y="446911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6C192CA-EBD5-4CA9-8E1D-228CB1AB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8990"/>
            <a:ext cx="8409243" cy="2742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960"/>
              </a:lnSpc>
              <a:buNone/>
            </a:pPr>
            <a:r>
              <a:rPr sz="1400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Change the source once — pages, catalogue, agents and gates follow. A hand-written copy fails CI.</a:t>
            </a:r>
            <a:endParaRPr sz="14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C0AFD4A-C947-4E34-AFEE-554AF162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238280"/>
            <a:ext cx="78486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Plectrum · Storybook for application teams</a:t>
            </a:r>
            <a:endParaRPr sz="1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0981B1D-2661-417D-A053-C81FDA00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400" y="6238280"/>
            <a:ext cx="10668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05 / 16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3859854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9A532CE-7F43-400C-BD8B-71E36ECB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12800"/>
            <a:ext cx="10883392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 spc="150">
                <a:solidFill>
                  <a:srgbClr val="333333"/>
                </a:solidFill>
                <a:latin typeface="Alegreya Sans"/>
                <a:ea typeface="Alegreya Sans"/>
                <a:cs typeface="Alegreya Sans"/>
              </a:rPr>
              <a:t>TOKEN PIPELINES — FIGMA → STORYBOOK → PACKAGES → APPS, AND BACK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B91B011-1C3B-43C3-A60F-F37145C6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094680"/>
            <a:ext cx="10883392" cy="452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60"/>
              </a:lnSpc>
              <a:buNone/>
            </a:pPr>
            <a:r>
              <a:rPr sz="3200" b="1">
                <a:solidFill>
                  <a:srgbClr val="DA002F"/>
                </a:solidFill>
                <a:latin typeface="Alegreya Sans"/>
                <a:ea typeface="Alegreya Sans"/>
                <a:cs typeface="Alegreya Sans"/>
              </a:rPr>
              <a:t>One loop, seven transports</a:t>
            </a:r>
            <a:endParaRPr sz="3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B282BC8-161A-48E7-BDB2-462787DE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" y="1702296"/>
            <a:ext cx="7677150" cy="3473450"/>
          </a:xfrm>
          <a:prstGeom xmlns:a="http://schemas.openxmlformats.org/drawingml/2006/main" prst="roundRect">
            <a:avLst>
              <a:gd name="adj" fmla="val 28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BD3D9"/>
            </a:solidFill>
            <a:prstDash val="solid"/>
          </a:ln>
        </p:spPr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3f23a31fb4f99"/>
          <a:srcRect xmlns:a="http://schemas.openxmlformats.org/drawingml/2006/main" l="-12" t="0" r="-12" b="0"/>
          <a:stretch xmlns:a="http://schemas.openxmlformats.org/drawingml/2006/main"/>
        </p:blipFill>
        <p:spPr>
          <a:xfrm xmlns:a="http://schemas.openxmlformats.org/drawingml/2006/main">
            <a:off x="908050" y="1794371"/>
            <a:ext cx="7493000" cy="3289300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1267143-5675-46E9-8D3A-F0BD49F3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98080"/>
            <a:ext cx="2812415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 spc="1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GUARDRAILS</a:t>
            </a:r>
            <a:endParaRPr sz="12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39F5852-9390-4735-ABBA-8207B4ED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875" y="2416175"/>
            <a:ext cx="2724150" cy="851991"/>
          </a:xfrm>
          <a:prstGeom xmlns:a="http://schemas.openxmlformats.org/drawingml/2006/main" prst="roundRect">
            <a:avLst>
              <a:gd name="adj" fmla="val 10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BD3D9"/>
            </a:solidFill>
            <a:prstDash val="solid"/>
          </a:ln>
        </p:spPr>
      </p:sp>
      <p:pic>
        <p:nvPicPr>
          <p:cNvPr id="2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2d26e36a3419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94750" y="2740521"/>
            <a:ext cx="190500" cy="203200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82D1620-3A7E-43E7-8178-DB52F1F9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150" y="2533650"/>
            <a:ext cx="2223770" cy="642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20"/>
              </a:lnSpc>
              <a:buNone/>
            </a:pPr>
            <a:r>
              <a:rPr sz="1200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Automation writes branches only — never main in Git or the main Figma file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D775BD0-E4E1-4344-AF4D-95FBACE3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875" y="3376116"/>
            <a:ext cx="2724150" cy="646311"/>
          </a:xfrm>
          <a:prstGeom xmlns:a="http://schemas.openxmlformats.org/drawingml/2006/main" prst="roundRect">
            <a:avLst>
              <a:gd name="adj" fmla="val 13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BD3D9"/>
            </a:solidFill>
            <a:prstDash val="solid"/>
          </a:ln>
        </p:spPr>
      </p:sp>
      <p:pic>
        <p:nvPicPr>
          <p:cNvPr id="3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4ad8f83be45c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94750" y="3597672"/>
            <a:ext cx="190500" cy="20320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61AF8E2E-A5DE-4E7A-91C5-6973A995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150" y="3493591"/>
            <a:ext cx="2223770" cy="4367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20"/>
              </a:lnSpc>
              <a:buNone/>
            </a:pPr>
            <a:r>
              <a:rPr sz="1200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Figma, PrimeNG preset and CSS must match — drift fails CI</a:t>
            </a:r>
            <a:endParaRPr sz="1200"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27D4051E-C45F-47BF-B8C7-8C54C511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875" y="4130377"/>
            <a:ext cx="2724150" cy="646311"/>
          </a:xfrm>
          <a:prstGeom xmlns:a="http://schemas.openxmlformats.org/drawingml/2006/main" prst="roundRect">
            <a:avLst>
              <a:gd name="adj" fmla="val 13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BD3D9"/>
            </a:solidFill>
            <a:prstDash val="solid"/>
          </a:ln>
        </p:spPr>
      </p:sp>
      <p:pic>
        <p:nvPicPr>
          <p:cNvPr id="3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1ef47099d44b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94750" y="4351933"/>
            <a:ext cx="190500" cy="203200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8673AF16-A193-4A72-9F58-9D9154B4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150" y="4247852"/>
            <a:ext cx="2223770" cy="4367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20"/>
              </a:lnSpc>
              <a:buNone/>
            </a:pPr>
            <a:r>
              <a:rPr sz="1200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Each sync report lands in the PR and as a comment in Figma</a:t>
            </a:r>
            <a:endParaRPr sz="1200"/>
          </a:p>
        </p:txBody>
      </p:sp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6764EA51-E2C4-43E5-BC2A-9CD82A7F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356721"/>
            <a:ext cx="10883392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Solid arrows are automated, dashed arrows are manual — both directions end in a human merge.</a:t>
            </a:r>
            <a:endParaRPr sz="1200"/>
          </a:p>
        </p:txBody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5B587029-3ADB-49F6-ACFE-980F0A7B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238280"/>
            <a:ext cx="78486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Plectrum · Storybook for application teams</a:t>
            </a:r>
            <a:endParaRPr sz="1200"/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18BBA372-5471-4507-BAAA-64F35F0C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400" y="6238280"/>
            <a:ext cx="10668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06 / 16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1164330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CFF74F6-7865-4B24-A4A4-DA8AEAFE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12800"/>
            <a:ext cx="10883392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 spc="150">
                <a:solidFill>
                  <a:srgbClr val="333333"/>
                </a:solidFill>
                <a:latin typeface="Alegreya Sans"/>
                <a:ea typeface="Alegreya Sans"/>
                <a:cs typeface="Alegreya Sans"/>
              </a:rPr>
              <a:t>AI-FIRST — CONTRACT-DRIVEN DEVELOPMENT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B15887E-2BF3-4F05-98D5-13BCD571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094680"/>
            <a:ext cx="10883392" cy="452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60"/>
              </a:lnSpc>
              <a:buNone/>
            </a:pPr>
            <a:r>
              <a:rPr sz="3200" b="1">
                <a:solidFill>
                  <a:srgbClr val="DA002F"/>
                </a:solidFill>
                <a:latin typeface="Alegreya Sans"/>
                <a:ea typeface="Alegreya Sans"/>
                <a:cs typeface="Alegreya Sans"/>
              </a:rPr>
              <a:t>Agents read typed contracts before they write code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D0358AD-D3B0-4325-98B1-031377F5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724521"/>
            <a:ext cx="10883392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 spc="1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FIND WHAT EXISTS — REUSE BEFORE INVENTING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D94FD9F-38C8-4B0C-BA66-E330D970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8491"/>
            <a:ext cx="2324100" cy="815280"/>
          </a:xfrm>
          <a:prstGeom xmlns:a="http://schemas.openxmlformats.org/drawingml/2006/main" prst="roundRect">
            <a:avLst>
              <a:gd name="adj" fmla="val 10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487395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64C953C-22B5-46A9-B1BC-4C2A4FEB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2339082"/>
            <a:ext cx="254000" cy="25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739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BFE4AB2-F0D3-4C6E-A098-B8D715BE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60" y="2359422"/>
            <a:ext cx="14228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1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71C611D-8117-483B-B75E-5EF001B8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00" y="2153741"/>
            <a:ext cx="1792097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PrimeNG MCP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41B80AC-7581-4B8E-9C41-2E6E0E1A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00" y="2397522"/>
            <a:ext cx="1792097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does PrimeNG already have it?</a:t>
            </a:r>
            <a:endParaRPr sz="1200"/>
          </a:p>
        </p:txBody>
      </p:sp>
      <p:pic>
        <p:nvPicPr>
          <p:cNvPr id="6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8c49ffa0849b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25800" y="2402582"/>
            <a:ext cx="254000" cy="127000"/>
          </a:xfrm>
          <a:prstGeom xmlns:a="http://schemas.openxmlformats.org/drawingml/2006/main" prst="rect">
            <a:avLst/>
          </a:prstGeom>
        </p:spPr>
      </p:pic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3E25E5DC-A1E5-4349-893A-379766AD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58491"/>
            <a:ext cx="2324100" cy="815280"/>
          </a:xfrm>
          <a:prstGeom xmlns:a="http://schemas.openxmlformats.org/drawingml/2006/main" prst="roundRect">
            <a:avLst>
              <a:gd name="adj" fmla="val 10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680F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77CA44A-B466-445F-85FA-CD5B895F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0" y="2339082"/>
            <a:ext cx="254000" cy="25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680F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E6BA7C6-D35F-480E-9CB8-619B042E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260" y="2359422"/>
            <a:ext cx="14228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2</a:t>
            </a:r>
            <a:endParaRPr sz="1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09E5FFF-1FC2-46EC-801A-2157E42F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900" y="2153741"/>
            <a:ext cx="1792097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Figma MCP</a:t>
            </a:r>
            <a:endParaRPr sz="13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EC07460-0EEA-44FC-A480-52F5309D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900" y="2397522"/>
            <a:ext cx="1792097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reads the design and its variables</a:t>
            </a:r>
            <a:endParaRPr sz="1200"/>
          </a:p>
        </p:txBody>
      </p:sp>
      <p:pic>
        <p:nvPicPr>
          <p:cNvPr id="7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8f8243d6e4d6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969000" y="2402582"/>
            <a:ext cx="254000" cy="127000"/>
          </a:xfrm>
          <a:prstGeom xmlns:a="http://schemas.openxmlformats.org/drawingml/2006/main" prst="rect">
            <a:avLst/>
          </a:prstGeom>
        </p:spPr>
      </p:pic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F612D1F3-00B5-4D3C-9555-CB31BC16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58491"/>
            <a:ext cx="2324100" cy="815280"/>
          </a:xfrm>
          <a:prstGeom xmlns:a="http://schemas.openxmlformats.org/drawingml/2006/main" prst="roundRect">
            <a:avLst>
              <a:gd name="adj" fmla="val 10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487395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1F64847-43BA-43EC-BFD0-BC62B550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2339082"/>
            <a:ext cx="254000" cy="25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7395"/>
          </a:solidFill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05119664-A16B-48E3-A129-5AF02947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60" y="2359422"/>
            <a:ext cx="14228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3</a:t>
            </a:r>
            <a:endParaRPr sz="12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F8C87141-AEB6-417B-82B5-D9EAAD7F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2153741"/>
            <a:ext cx="1792097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index.json</a:t>
            </a:r>
            <a:endParaRPr sz="13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E3B38FF-B133-4FEC-AA7A-04B10668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2397522"/>
            <a:ext cx="1792097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lists every Plectrum component</a:t>
            </a:r>
            <a:endParaRPr sz="1200"/>
          </a:p>
        </p:txBody>
      </p:sp>
      <p:pic>
        <p:nvPicPr>
          <p:cNvPr id="7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849b8c83847e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12200" y="2402582"/>
            <a:ext cx="254000" cy="127000"/>
          </a:xfrm>
          <a:prstGeom xmlns:a="http://schemas.openxmlformats.org/drawingml/2006/main" prst="rect">
            <a:avLst/>
          </a:prstGeom>
        </p:spPr>
      </p:pic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E2184EA8-1519-4DDB-90D0-8D1D7ED1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58491"/>
            <a:ext cx="2324100" cy="815280"/>
          </a:xfrm>
          <a:prstGeom xmlns:a="http://schemas.openxmlformats.org/drawingml/2006/main" prst="roundRect">
            <a:avLst>
              <a:gd name="adj" fmla="val 10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487395"/>
            </a:solidFill>
            <a:prstDash val="solid"/>
          </a:ln>
        </p:spPr>
      </p:sp>
      <p:sp>
        <p:nvSpPr>
          <p:cNvPr id="24" name="Shape 19">
            <a:extLst xmlns:a="http://schemas.openxmlformats.org/drawingml/2006/main">
              <a:ext uri="{FF2B5EF4-FFF2-40B4-BE49-F238E27FC236}">
                <a16:creationId xmlns:a16="http://schemas.microsoft.com/office/drawing/2014/main" id="{3BEC7D43-A77C-46E7-A348-AB218C58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9400" y="2339082"/>
            <a:ext cx="254000" cy="25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7395"/>
          </a:solidFill>
        </p:spPr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3EC83970-2526-4913-9E24-FDCD1ACE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0660" y="2359422"/>
            <a:ext cx="14228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4</a:t>
            </a:r>
            <a:endParaRPr sz="1200"/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FDF98BB7-51DB-4DF1-8AE8-4FC867B6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300" y="2153741"/>
            <a:ext cx="1792097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Storybook MCP</a:t>
            </a:r>
            <a:endParaRPr sz="1300"/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830C35BC-347E-4486-868B-4A15A686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300" y="2397522"/>
            <a:ext cx="1792097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reads the live docs and stories</a:t>
            </a:r>
            <a:endParaRPr sz="1200"/>
          </a:p>
        </p:txBody>
      </p:sp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981802A1-ABA4-4111-AB16-430A77C1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994422"/>
            <a:ext cx="10883392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 spc="1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THEN FOLLOW THE CONTRACT — BUILD ONLY WHAT IS MISSING</a:t>
            </a:r>
            <a:endParaRPr sz="1200"/>
          </a:p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B9137C76-F539-48F1-8059-D5BB4407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28392"/>
            <a:ext cx="3238500" cy="815280"/>
          </a:xfrm>
          <a:prstGeom xmlns:a="http://schemas.openxmlformats.org/drawingml/2006/main" prst="roundRect">
            <a:avLst>
              <a:gd name="adj" fmla="val 10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487395"/>
            </a:solidFill>
            <a:prstDash val="solid"/>
          </a:ln>
        </p:spPr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68323341-D6DF-4AC8-911A-3A8D3D56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3608983"/>
            <a:ext cx="254000" cy="25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7395"/>
          </a:solidFill>
        </p:spPr>
      </p:sp>
      <p:sp>
        <p:nvSpPr>
          <p:cNvPr id="31" name="Text 26">
            <a:extLst xmlns:a="http://schemas.openxmlformats.org/drawingml/2006/main">
              <a:ext uri="{FF2B5EF4-FFF2-40B4-BE49-F238E27FC236}">
                <a16:creationId xmlns:a16="http://schemas.microsoft.com/office/drawing/2014/main" id="{8CCDCD4D-8F4F-46E5-A56E-C03899E3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60" y="3629323"/>
            <a:ext cx="14228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5</a:t>
            </a:r>
            <a:endParaRPr sz="1200"/>
          </a:p>
        </p:txBody>
      </p:sp>
      <p:sp>
        <p:nvSpPr>
          <p:cNvPr id="32" name="Text 27">
            <a:extLst xmlns:a="http://schemas.openxmlformats.org/drawingml/2006/main">
              <a:ext uri="{FF2B5EF4-FFF2-40B4-BE49-F238E27FC236}">
                <a16:creationId xmlns:a16="http://schemas.microsoft.com/office/drawing/2014/main" id="{3178424D-0CAB-4A48-8B8B-FC3A999D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00" y="3432473"/>
            <a:ext cx="2733929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2B2B2E"/>
                </a:solidFill>
                <a:latin typeface="JetBrains Mono"/>
                <a:ea typeface="JetBrains Mono"/>
                <a:cs typeface="JetBrains Mono"/>
              </a:rPr>
              <a:t>{name}.metadata.ts</a:t>
            </a:r>
            <a:endParaRPr sz="1200"/>
          </a:p>
        </p:txBody>
      </p:sp>
      <p:sp>
        <p:nvSpPr>
          <p:cNvPr id="33" name="Text 28">
            <a:extLst xmlns:a="http://schemas.openxmlformats.org/drawingml/2006/main">
              <a:ext uri="{FF2B5EF4-FFF2-40B4-BE49-F238E27FC236}">
                <a16:creationId xmlns:a16="http://schemas.microsoft.com/office/drawing/2014/main" id="{1269F8A9-A7B0-40FE-BA58-26873C42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00" y="3658493"/>
            <a:ext cx="2733929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how and why to use it: variants, tokens, a11y</a:t>
            </a:r>
            <a:endParaRPr sz="1200"/>
          </a:p>
        </p:txBody>
      </p:sp>
      <p:pic>
        <p:nvPicPr>
          <p:cNvPr id="8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093c6606a4c3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140200" y="3672483"/>
            <a:ext cx="254000" cy="127000"/>
          </a:xfrm>
          <a:prstGeom xmlns:a="http://schemas.openxmlformats.org/drawingml/2006/main" prst="rect">
            <a:avLst/>
          </a:prstGeom>
        </p:spPr>
      </p:pic>
      <p:sp>
        <p:nvSpPr>
          <p:cNvPr id="35" name="Shape 29">
            <a:extLst xmlns:a="http://schemas.openxmlformats.org/drawingml/2006/main">
              <a:ext uri="{FF2B5EF4-FFF2-40B4-BE49-F238E27FC236}">
                <a16:creationId xmlns:a16="http://schemas.microsoft.com/office/drawing/2014/main" id="{8CDDE747-5E34-4852-AE62-BAD032C1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28392"/>
            <a:ext cx="3238500" cy="815280"/>
          </a:xfrm>
          <a:prstGeom xmlns:a="http://schemas.openxmlformats.org/drawingml/2006/main" prst="roundRect">
            <a:avLst>
              <a:gd name="adj" fmla="val 10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838C"/>
            </a:solidFill>
            <a:prstDash val="solid"/>
          </a:ln>
        </p:spPr>
      </p:sp>
      <p:sp>
        <p:nvSpPr>
          <p:cNvPr id="36" name="Shape 30">
            <a:extLst xmlns:a="http://schemas.openxmlformats.org/drawingml/2006/main">
              <a:ext uri="{FF2B5EF4-FFF2-40B4-BE49-F238E27FC236}">
                <a16:creationId xmlns:a16="http://schemas.microsoft.com/office/drawing/2014/main" id="{1F73F857-E862-4C4E-86EA-3F4A654D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3608983"/>
            <a:ext cx="254000" cy="25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838C"/>
          </a:solidFill>
        </p:spPr>
      </p:sp>
      <p:sp>
        <p:nvSpPr>
          <p:cNvPr id="37" name="Text 31">
            <a:extLst xmlns:a="http://schemas.openxmlformats.org/drawingml/2006/main">
              <a:ext uri="{FF2B5EF4-FFF2-40B4-BE49-F238E27FC236}">
                <a16:creationId xmlns:a16="http://schemas.microsoft.com/office/drawing/2014/main" id="{BF94C911-513B-4049-84EB-BBE2EFA2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660" y="3629323"/>
            <a:ext cx="14228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6</a:t>
            </a:r>
            <a:endParaRPr sz="1200"/>
          </a:p>
        </p:txBody>
      </p:sp>
      <p:sp>
        <p:nvSpPr>
          <p:cNvPr id="38" name="Text 32">
            <a:extLst xmlns:a="http://schemas.openxmlformats.org/drawingml/2006/main">
              <a:ext uri="{FF2B5EF4-FFF2-40B4-BE49-F238E27FC236}">
                <a16:creationId xmlns:a16="http://schemas.microsoft.com/office/drawing/2014/main" id="{6DE086B5-9FF9-43CD-AB07-A533D112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300" y="3518892"/>
            <a:ext cx="2733929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protocols/</a:t>
            </a:r>
            <a:endParaRPr sz="1300"/>
          </a:p>
        </p:txBody>
      </p:sp>
      <p:sp>
        <p:nvSpPr>
          <p:cNvPr id="39" name="Text 33">
            <a:extLst xmlns:a="http://schemas.openxmlformats.org/drawingml/2006/main">
              <a:ext uri="{FF2B5EF4-FFF2-40B4-BE49-F238E27FC236}">
                <a16:creationId xmlns:a16="http://schemas.microsoft.com/office/drawing/2014/main" id="{57474C37-DD37-427A-844D-1E7A1B40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0300" y="3762673"/>
            <a:ext cx="2733929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rules to create, query and audit</a:t>
            </a:r>
            <a:endParaRPr sz="1200"/>
          </a:p>
        </p:txBody>
      </p:sp>
      <p:pic>
        <p:nvPicPr>
          <p:cNvPr id="9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44244cd504ed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797800" y="3672483"/>
            <a:ext cx="254000" cy="127000"/>
          </a:xfrm>
          <a:prstGeom xmlns:a="http://schemas.openxmlformats.org/drawingml/2006/main" prst="rect">
            <a:avLst/>
          </a:prstGeom>
        </p:spPr>
      </p:pic>
      <p:sp>
        <p:nvSpPr>
          <p:cNvPr id="41" name="Shape 34">
            <a:extLst xmlns:a="http://schemas.openxmlformats.org/drawingml/2006/main">
              <a:ext uri="{FF2B5EF4-FFF2-40B4-BE49-F238E27FC236}">
                <a16:creationId xmlns:a16="http://schemas.microsoft.com/office/drawing/2014/main" id="{50657FE2-E5C3-4FEE-9F29-9002CBD0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28392"/>
            <a:ext cx="3238500" cy="815280"/>
          </a:xfrm>
          <a:prstGeom xmlns:a="http://schemas.openxmlformats.org/drawingml/2006/main" prst="roundRect">
            <a:avLst>
              <a:gd name="adj" fmla="val 10125"/>
            </a:avLst>
          </a:prstGeom>
          <a:solidFill xmlns:a="http://schemas.openxmlformats.org/drawingml/2006/main">
            <a:srgbClr val="E2F1E7"/>
          </a:solidFill>
          <a:ln xmlns:a="http://schemas.openxmlformats.org/drawingml/2006/main" w="12700">
            <a:solidFill>
              <a:srgbClr val="2F7D52"/>
            </a:solidFill>
            <a:prstDash val="solid"/>
          </a:ln>
        </p:spPr>
      </p:sp>
      <p:sp>
        <p:nvSpPr>
          <p:cNvPr id="42" name="Shape 35">
            <a:extLst xmlns:a="http://schemas.openxmlformats.org/drawingml/2006/main">
              <a:ext uri="{FF2B5EF4-FFF2-40B4-BE49-F238E27FC236}">
                <a16:creationId xmlns:a16="http://schemas.microsoft.com/office/drawing/2014/main" id="{97067C0E-FD40-4004-9511-F8C13945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608983"/>
            <a:ext cx="254000" cy="25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2"/>
          </a:solidFill>
        </p:spPr>
      </p:sp>
      <p:sp>
        <p:nvSpPr>
          <p:cNvPr id="43" name="Text 36">
            <a:extLst xmlns:a="http://schemas.openxmlformats.org/drawingml/2006/main">
              <a:ext uri="{FF2B5EF4-FFF2-40B4-BE49-F238E27FC236}">
                <a16:creationId xmlns:a16="http://schemas.microsoft.com/office/drawing/2014/main" id="{E3385427-3B0D-4007-A772-E1FD331D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260" y="3629323"/>
            <a:ext cx="14228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7</a:t>
            </a:r>
            <a:endParaRPr sz="1200"/>
          </a:p>
        </p:txBody>
      </p:sp>
      <p:sp>
        <p:nvSpPr>
          <p:cNvPr id="44" name="Text 37">
            <a:extLst xmlns:a="http://schemas.openxmlformats.org/drawingml/2006/main">
              <a:ext uri="{FF2B5EF4-FFF2-40B4-BE49-F238E27FC236}">
                <a16:creationId xmlns:a16="http://schemas.microsoft.com/office/drawing/2014/main" id="{E9D89147-72B5-4A3C-951D-2A5FD8B0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900" y="3423642"/>
            <a:ext cx="2733929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libs/ui component</a:t>
            </a:r>
            <a:endParaRPr sz="1300"/>
          </a:p>
        </p:txBody>
      </p:sp>
      <p:sp>
        <p:nvSpPr>
          <p:cNvPr id="45" name="Text 38">
            <a:extLst xmlns:a="http://schemas.openxmlformats.org/drawingml/2006/main">
              <a:ext uri="{FF2B5EF4-FFF2-40B4-BE49-F238E27FC236}">
                <a16:creationId xmlns:a16="http://schemas.microsoft.com/office/drawing/2014/main" id="{2E7829C0-0C28-40CD-BB80-F498111D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900" y="3667423"/>
            <a:ext cx="2733929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local files, generated without Core approval</a:t>
            </a:r>
            <a:endParaRPr sz="1200"/>
          </a:p>
        </p:txBody>
      </p:sp>
      <p:sp>
        <p:nvSpPr>
          <p:cNvPr id="46" name="Shape 39">
            <a:extLst xmlns:a="http://schemas.openxmlformats.org/drawingml/2006/main">
              <a:ext uri="{FF2B5EF4-FFF2-40B4-BE49-F238E27FC236}">
                <a16:creationId xmlns:a16="http://schemas.microsoft.com/office/drawing/2014/main" id="{DB38145D-185F-4FFC-ABD9-E284180A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353223"/>
            <a:ext cx="10566400" cy="1229320"/>
          </a:xfrm>
          <a:prstGeom xmlns:a="http://schemas.openxmlformats.org/drawingml/2006/main" prst="roundRect">
            <a:avLst>
              <a:gd name="adj" fmla="val 8265"/>
            </a:avLst>
          </a:prstGeom>
          <a:solidFill xmlns:a="http://schemas.openxmlformats.org/drawingml/2006/main">
            <a:srgbClr val="2B2B2E"/>
          </a:solidFill>
        </p:spPr>
      </p:sp>
      <p:sp>
        <p:nvSpPr>
          <p:cNvPr id="47" name="Text 40">
            <a:extLst xmlns:a="http://schemas.openxmlformats.org/drawingml/2006/main">
              <a:ext uri="{FF2B5EF4-FFF2-40B4-BE49-F238E27FC236}">
                <a16:creationId xmlns:a16="http://schemas.microsoft.com/office/drawing/2014/main" id="{3C8AE381-E144-460D-9D64-E2B487B1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80223"/>
            <a:ext cx="10517124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 spc="100">
                <a:solidFill>
                  <a:srgbClr val="A9A9B2"/>
                </a:solidFill>
                <a:latin typeface="Nunito Sans"/>
                <a:ea typeface="Nunito Sans"/>
                <a:cs typeface="Nunito Sans"/>
              </a:rPr>
              <a:t>EXAMPLE PROMPT</a:t>
            </a:r>
            <a:endParaRPr sz="1200"/>
          </a:p>
        </p:txBody>
      </p:sp>
      <p:sp>
        <p:nvSpPr>
          <p:cNvPr id="48" name="Text 41">
            <a:extLst xmlns:a="http://schemas.openxmlformats.org/drawingml/2006/main">
              <a:ext uri="{FF2B5EF4-FFF2-40B4-BE49-F238E27FC236}">
                <a16:creationId xmlns:a16="http://schemas.microsoft.com/office/drawing/2014/main" id="{4F722C65-E22A-4C23-8CFA-68A0AE2A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31643"/>
            <a:ext cx="10517124" cy="482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00"/>
              </a:lnSpc>
              <a:buNone/>
            </a:pPr>
            <a:r>
              <a:rPr sz="1200">
                <a:solidFill>
                  <a:srgbClr val="FF8FA3"/>
                </a:solidFill>
                <a:latin typeface="JetBrains Mono"/>
                <a:ea typeface="JetBrains Mono"/>
                <a:cs typeface="JetBrains Mono"/>
              </a:rPr>
              <a:t>/plectrum</a:t>
            </a:r>
            <a:r>
              <a:rPr sz="1200">
                <a:solidFill>
                  <a:srgbClr val="F2F0EC"/>
                </a:solidFill>
                <a:latin typeface="JetBrains Mono"/>
                <a:ea typeface="JetBrains Mono"/>
                <a:cs typeface="JetBrains Mono"/>
              </a:rPr>
              <a:t> I need a date-range filter for the claims list.</a:t>
            </a:r>
            <a:endParaRPr sz="1200"/>
          </a:p>
          <a:p xmlns:a="http://schemas.openxmlformats.org/drawingml/2006/main">
            <a:pPr marL="0" indent="0" algn="l">
              <a:lnSpc>
                <a:spcPts val="1800"/>
              </a:lnSpc>
              <a:buNone/>
            </a:pPr>
            <a:r>
              <a:rPr sz="1200">
                <a:solidFill>
                  <a:srgbClr val="F2F0EC"/>
                </a:solidFill>
                <a:latin typeface="JetBrains Mono"/>
                <a:ea typeface="JetBrains Mono"/>
                <a:cs typeface="JetBrains Mono"/>
              </a:rPr>
              <a:t>Figma: [frame link]. Reuse PrimeNG or Core first.</a:t>
            </a:r>
            <a:endParaRPr sz="1200"/>
          </a:p>
        </p:txBody>
      </p:sp>
      <p:sp>
        <p:nvSpPr>
          <p:cNvPr id="49" name="Text 42">
            <a:extLst xmlns:a="http://schemas.openxmlformats.org/drawingml/2006/main">
              <a:ext uri="{FF2B5EF4-FFF2-40B4-BE49-F238E27FC236}">
                <a16:creationId xmlns:a16="http://schemas.microsoft.com/office/drawing/2014/main" id="{64BC83F4-9E91-4FA0-814F-05F6CBEC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26943"/>
            <a:ext cx="10517124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00"/>
              </a:lnSpc>
              <a:buNone/>
            </a:pPr>
            <a:r>
              <a:rPr sz="1200">
                <a:solidFill>
                  <a:srgbClr val="9FD8B4"/>
                </a:solidFill>
                <a:latin typeface="JetBrains Mono"/>
                <a:ea typeface="JetBrains Mono"/>
                <a:cs typeface="JetBrains Mono"/>
              </a:rPr>
              <a:t>→ PrimeNG DatePicker (range) covers it: no new component.</a:t>
            </a:r>
            <a:endParaRPr sz="1200"/>
          </a:p>
        </p:txBody>
      </p:sp>
      <p:sp>
        <p:nvSpPr>
          <p:cNvPr id="50" name="Text 43">
            <a:extLst xmlns:a="http://schemas.openxmlformats.org/drawingml/2006/main">
              <a:ext uri="{FF2B5EF4-FFF2-40B4-BE49-F238E27FC236}">
                <a16:creationId xmlns:a16="http://schemas.microsoft.com/office/drawing/2014/main" id="{CC4EF18D-312C-4B9E-887B-2F75BAAB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238280"/>
            <a:ext cx="78486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Plectrum · Storybook for application teams</a:t>
            </a:r>
            <a:endParaRPr sz="1200"/>
          </a:p>
        </p:txBody>
      </p:sp>
      <p:sp>
        <p:nvSpPr>
          <p:cNvPr id="51" name="Text 44">
            <a:extLst xmlns:a="http://schemas.openxmlformats.org/drawingml/2006/main">
              <a:ext uri="{FF2B5EF4-FFF2-40B4-BE49-F238E27FC236}">
                <a16:creationId xmlns:a16="http://schemas.microsoft.com/office/drawing/2014/main" id="{5114E224-AB83-4A90-9943-308E7222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400" y="6238280"/>
            <a:ext cx="10668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07 / 16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7930384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ED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D298E6F-4A4D-47B1-B9D8-6C05D9AF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12800"/>
            <a:ext cx="10883392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 spc="150">
                <a:solidFill>
                  <a:srgbClr val="333333"/>
                </a:solidFill>
                <a:latin typeface="Alegreya Sans"/>
                <a:ea typeface="Alegreya Sans"/>
                <a:cs typeface="Alegreya Sans"/>
              </a:rPr>
              <a:t>AI-FIRST — AGENTS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F9F3FA4-8B31-4CF3-8D5C-55E79749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094680"/>
            <a:ext cx="10883392" cy="452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60"/>
              </a:lnSpc>
              <a:buNone/>
            </a:pPr>
            <a:r>
              <a:rPr sz="3200" b="1">
                <a:solidFill>
                  <a:srgbClr val="DA002F"/>
                </a:solidFill>
                <a:latin typeface="Alegreya Sans"/>
                <a:ea typeface="Alegreya Sans"/>
                <a:cs typeface="Alegreya Sans"/>
              </a:rPr>
              <a:t>One coordinator, six specialists, human decisions</a:t>
            </a:r>
            <a:endParaRPr sz="3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796DA2D-85B7-4B07-90DF-9E7A6B62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749921"/>
            <a:ext cx="2794000" cy="2166441"/>
          </a:xfrm>
          <a:prstGeom xmlns:a="http://schemas.openxmlformats.org/drawingml/2006/main" prst="roundRect">
            <a:avLst>
              <a:gd name="adj" fmla="val 4690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203200" dist="76200" dir="5400000" sx="100000" sy="100000" kx="0" ky="0" algn="bl" rotWithShape="0">
              <a:srgbClr val="78142D">
                <a:alpha val="8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4C046A3-FA09-40D2-9FFF-A262E5D7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749921"/>
            <a:ext cx="2794000" cy="2166441"/>
          </a:xfrm>
          <a:custGeom xmlns:a="http://schemas.openxmlformats.org/drawingml/2006/main">
            <a:rect l="l" t="t" r="r" b="b"/>
            <a:pathLst>
              <a:path w="2794000" h="2166441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692400" y="0"/>
                </a:lnTo>
                <a:arcTo wR="101600" hR="101600" stAng="16200000" swAng="5400000"/>
                <a:lnTo>
                  <a:pt x="27940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 xmlns:a="http://schemas.openxmlformats.org/drawingml/2006/main">
            <a:srgbClr val="DA002F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924d70110427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16000" y="2003921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03A6F73-A602-4C61-9DFB-ABE89A18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97621"/>
            <a:ext cx="2459228" cy="309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240"/>
              </a:lnSpc>
              <a:buNone/>
            </a:pPr>
            <a:r>
              <a:rPr sz="1600" b="1">
                <a:solidFill>
                  <a:srgbClr val="2B2B2E"/>
                </a:solidFill>
                <a:latin typeface="JetBrains Mono"/>
                <a:ea typeface="JetBrains Mono"/>
                <a:cs typeface="JetBrains Mono"/>
              </a:rPr>
              <a:t>/plectrum</a:t>
            </a:r>
            <a:endParaRPr sz="16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62836FB-926C-4543-AB5E-9E0E54EC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770981"/>
            <a:ext cx="2459228" cy="452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The only agent you talk to. It delegates to the specialists.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4E3F718-0CE1-411F-BE35-35A440F7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286522"/>
            <a:ext cx="2459228" cy="452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Cursor, Copilot and .ai guidance, generated at install.</a:t>
            </a:r>
            <a:endParaRPr sz="12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4E3EC58-53FF-4340-B7CA-BC6AB9AD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49921"/>
            <a:ext cx="2387600" cy="981571"/>
          </a:xfrm>
          <a:prstGeom xmlns:a="http://schemas.openxmlformats.org/drawingml/2006/main" prst="roundRect">
            <a:avLst>
              <a:gd name="adj" fmla="val 905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BB46E00-E883-4375-AE34-589B0EE4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89621"/>
            <a:ext cx="2145284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UX Researcher</a:t>
            </a:r>
            <a:endParaRPr sz="13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C465882-B924-452C-A567-23EEDE7E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46102"/>
            <a:ext cx="2145284" cy="4367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20"/>
              </a:lnSpc>
              <a:buNone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Figma inspection, design brief · read-only</a:t>
            </a:r>
            <a:endParaRPr sz="12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75F12580-823B-4AD3-9C2E-1EAE1A1A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49921"/>
            <a:ext cx="2387600" cy="981571"/>
          </a:xfrm>
          <a:prstGeom xmlns:a="http://schemas.openxmlformats.org/drawingml/2006/main" prst="roundRect">
            <a:avLst>
              <a:gd name="adj" fmla="val 905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9F86073-1C45-43FB-9C05-370F8C2D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9621"/>
            <a:ext cx="2145284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UX Engineer</a:t>
            </a:r>
            <a:endParaRPr sz="13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D5AE1FD-4BB0-46C1-A23D-906C800B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46102"/>
            <a:ext cx="2145284" cy="4367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20"/>
              </a:lnSpc>
              <a:buNone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SCSS tokens, BEMIT, stories, Figma writes</a:t>
            </a:r>
            <a:endParaRPr sz="12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BFA672B-24B7-4E04-A885-15BDCF33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49921"/>
            <a:ext cx="2387600" cy="981571"/>
          </a:xfrm>
          <a:prstGeom xmlns:a="http://schemas.openxmlformats.org/drawingml/2006/main" prst="roundRect">
            <a:avLst>
              <a:gd name="adj" fmla="val 905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0A475EF-DA6D-4793-B589-7DAB2286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89621"/>
            <a:ext cx="2145284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Frontend Dev</a:t>
            </a:r>
            <a:endParaRPr sz="13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B82A590-1A2A-489D-894D-9CAE2B71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46102"/>
            <a:ext cx="2145284" cy="4367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20"/>
              </a:lnSpc>
              <a:buNone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Angular, accessibility, PrimeNG wiring</a:t>
            </a:r>
            <a:endParaRPr sz="120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458BF2A-3BEB-4F44-9B7F-25C61437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34692"/>
            <a:ext cx="2387600" cy="981670"/>
          </a:xfrm>
          <a:prstGeom xmlns:a="http://schemas.openxmlformats.org/drawingml/2006/main" prst="roundRect">
            <a:avLst>
              <a:gd name="adj" fmla="val 905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8F13F5A5-F146-426E-9925-D5C1F5ED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74392"/>
            <a:ext cx="2145284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Tester</a:t>
            </a:r>
            <a:endParaRPr sz="13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B0525E9E-CF37-40D2-895A-746A153E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30873"/>
            <a:ext cx="2145284" cy="4367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20"/>
              </a:lnSpc>
              <a:buNone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unit tests, story coverage, WCAG 2.1 AA</a:t>
            </a:r>
            <a:endParaRPr sz="120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F46681A3-D34D-4F02-9D60-5B7A75D8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34692"/>
            <a:ext cx="2387600" cy="981670"/>
          </a:xfrm>
          <a:prstGeom xmlns:a="http://schemas.openxmlformats.org/drawingml/2006/main" prst="roundRect">
            <a:avLst>
              <a:gd name="adj" fmla="val 905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56A7DBDD-32D1-4071-BCEF-BBB6E375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74392"/>
            <a:ext cx="2145284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Token Auditor</a:t>
            </a:r>
            <a:endParaRPr sz="13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41AA9078-93C0-497E-804E-87A63E8E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30873"/>
            <a:ext cx="2145284" cy="4367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20"/>
              </a:lnSpc>
              <a:buNone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prefix, coverage, Figma drift · read-only</a:t>
            </a:r>
            <a:endParaRPr sz="120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283A2A25-D30D-42E8-B0CE-1165836F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34692"/>
            <a:ext cx="2387600" cy="981670"/>
          </a:xfrm>
          <a:prstGeom xmlns:a="http://schemas.openxmlformats.org/drawingml/2006/main" prst="roundRect">
            <a:avLst>
              <a:gd name="adj" fmla="val 905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E5DDC77E-7B56-4CB8-B88B-80B1F403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74392"/>
            <a:ext cx="2145284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Architect</a:t>
            </a:r>
            <a:endParaRPr sz="13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F44563E4-208B-4618-A91D-6491D84B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0873"/>
            <a:ext cx="2145284" cy="4367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20"/>
              </a:lnSpc>
              <a:buNone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one catalogue, naming, boundaries · read-only</a:t>
            </a:r>
            <a:endParaRPr sz="1200"/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2F04FD8C-1397-4819-94D9-56DAD650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144962"/>
            <a:ext cx="6350000" cy="12446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2B2B2E"/>
          </a:solidFill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9665D019-8E5D-42D0-BC60-88CAE5AC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310063"/>
            <a:ext cx="6121908" cy="939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00"/>
              </a:lnSpc>
              <a:buNone/>
            </a:pPr>
            <a:r>
              <a:rPr sz="1200">
                <a:solidFill>
                  <a:srgbClr val="FF8FA3"/>
                </a:solidFill>
                <a:latin typeface="JetBrains Mono"/>
                <a:ea typeface="JetBrains Mono"/>
                <a:cs typeface="JetBrains Mono"/>
              </a:rPr>
              <a:t>/plectrum</a:t>
            </a:r>
            <a:r>
              <a:rPr sz="1200">
                <a:solidFill>
                  <a:srgbClr val="F2F0EC"/>
                </a:solidFill>
                <a:latin typeface="JetBrains Mono"/>
                <a:ea typeface="JetBrains Mono"/>
                <a:cs typeface="JetBrains Mono"/>
              </a:rPr>
              <a:t> Add a Core status banner.</a:t>
            </a:r>
            <a:endParaRPr sz="1200"/>
          </a:p>
          <a:p xmlns:a="http://schemas.openxmlformats.org/drawingml/2006/main">
            <a:pPr marL="0" indent="0" algn="l">
              <a:lnSpc>
                <a:spcPts val="1800"/>
              </a:lnSpc>
              <a:buNone/>
            </a:pPr>
            <a:r>
              <a:rPr sz="1200">
                <a:solidFill>
                  <a:srgbClr val="F2F0EC"/>
                </a:solidFill>
                <a:latin typeface="JetBrains Mono"/>
                <a:ea typeface="JetBrains Mono"/>
                <a:cs typeface="JetBrains Mono"/>
              </a:rPr>
              <a:t>Owner: design-system. Figma: [UI Kit link].</a:t>
            </a:r>
            <a:endParaRPr sz="1200"/>
          </a:p>
          <a:p xmlns:a="http://schemas.openxmlformats.org/drawingml/2006/main">
            <a:pPr marL="0" indent="0" algn="l">
              <a:lnSpc>
                <a:spcPts val="1800"/>
              </a:lnSpc>
              <a:buNone/>
            </a:pPr>
            <a:r>
              <a:rPr sz="1200">
                <a:solidFill>
                  <a:srgbClr val="F2F0EC"/>
                </a:solidFill>
                <a:latin typeface="JetBrains Mono"/>
                <a:ea typeface="JetBrains Mono"/>
                <a:cs typeface="JetBrains Mono"/>
              </a:rPr>
              <a:t>Proposal: [issue link].</a:t>
            </a:r>
            <a:endParaRPr sz="1200"/>
          </a:p>
          <a:p xmlns:a="http://schemas.openxmlformats.org/drawingml/2006/main">
            <a:pPr marL="0" indent="0" algn="l">
              <a:lnSpc>
                <a:spcPts val="1800"/>
              </a:lnSpc>
              <a:buNone/>
            </a:pPr>
            <a:r>
              <a:rPr sz="1200">
                <a:solidFill>
                  <a:srgbClr val="F2F0EC"/>
                </a:solidFill>
                <a:latin typeface="JetBrains Mono"/>
                <a:ea typeface="JetBrains Mono"/>
                <a:cs typeface="JetBrains Mono"/>
              </a:rPr>
              <a:t>Use PrimeNG Message if it already covers this.</a:t>
            </a:r>
            <a:endParaRPr sz="1200"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21A25480-6323-464A-94E5-648D4F8B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75163"/>
            <a:ext cx="4028948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00"/>
              </a:lnSpc>
              <a:buNone/>
            </a:pPr>
            <a:r>
              <a:rPr sz="2000" b="1">
                <a:solidFill>
                  <a:srgbClr val="DA002F"/>
                </a:solidFill>
                <a:latin typeface="Alegreya Sans"/>
                <a:ea typeface="Alegreya Sans"/>
                <a:cs typeface="Alegreya Sans"/>
              </a:rPr>
              <a:t>The agent prepares. Checks verify. People decide.</a:t>
            </a:r>
            <a:endParaRPr sz="200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36F33B5E-1108-4119-8E25-7063188E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238280"/>
            <a:ext cx="78486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66666D"/>
                </a:solidFill>
                <a:latin typeface="Nunito Sans"/>
                <a:ea typeface="Nunito Sans"/>
                <a:cs typeface="Nunito Sans"/>
              </a:rPr>
              <a:t>Plectrum · Storybook for application teams</a:t>
            </a:r>
            <a:endParaRPr sz="12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4922E072-A06F-4287-BD1F-04815F4F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400" y="6238280"/>
            <a:ext cx="10668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ts val="1680"/>
              </a:lnSpc>
              <a:buNone/>
            </a:pPr>
            <a:r>
              <a:rPr sz="1200">
                <a:solidFill>
                  <a:srgbClr val="66666D"/>
                </a:solidFill>
                <a:latin typeface="Nunito Sans"/>
                <a:ea typeface="Nunito Sans"/>
                <a:cs typeface="Nunito Sans"/>
              </a:rPr>
              <a:t>08 / 16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2468270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A69DF08-EC61-43D2-810A-7C55C5B8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12800"/>
            <a:ext cx="10883392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 spc="150">
                <a:solidFill>
                  <a:srgbClr val="333333"/>
                </a:solidFill>
                <a:latin typeface="Alegreya Sans"/>
                <a:ea typeface="Alegreya Sans"/>
                <a:cs typeface="Alegreya Sans"/>
              </a:rPr>
              <a:t>AI-FIRST — OPTIONAL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8F27527-F0FF-4E77-BA24-E41672F6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094680"/>
            <a:ext cx="10883392" cy="452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60"/>
              </a:lnSpc>
              <a:buNone/>
            </a:pPr>
            <a:r>
              <a:rPr sz="3200" b="1">
                <a:solidFill>
                  <a:srgbClr val="DA002F"/>
                </a:solidFill>
                <a:latin typeface="Alegreya Sans"/>
                <a:ea typeface="Alegreya Sans"/>
                <a:cs typeface="Alegreya Sans"/>
              </a:rPr>
              <a:t>No AI? Same scripts, same CI, same reviews</a:t>
            </a:r>
            <a:endParaRPr sz="3200"/>
          </a:p>
        </p:txBody>
      </p:sp>
      <p:graphicFrame>
        <p:nvGraphicFramePr>
          <p:cNvPr id="16" name="Table 0"/>
          <p:cNvGraphicFramePr/>
          <p:nvPr/>
        </p:nvGraphicFramePr>
        <p:xfrm>
          <a:off xmlns:a="http://schemas.openxmlformats.org/drawingml/2006/main" x="825500" y="1686421"/>
          <a:ext xmlns:a="http://schemas.openxmlformats.org/drawingml/2006/main" cx="10553700" cy="251489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32888"/>
                <a:gridCol w="4221480"/>
                <a:gridCol w="3799332"/>
              </a:tblGrid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 b="1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Task</a:t>
                      </a:r>
                      <a:endParaRPr sz="13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7785" marR="57785" marT="57785" marB="57785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BDC0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BDC0"/>
                      </a:solidFill>
                      <a:prstDash val="solid"/>
                    </a:lnB>
                    <a:solidFill>
                      <a:srgbClr val="FFE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 b="1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With an agent</a:t>
                      </a:r>
                      <a:endParaRPr sz="13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7785" marR="57785" marT="57785" marB="57785" anchor="t">
                    <a:lnL w="12700" cmpd="sng">
                      <a:solidFill>
                        <a:srgbClr val="CBBDC0"/>
                      </a:solidFill>
                      <a:prstDash val="solid"/>
                    </a:lnL>
                    <a:lnR w="12700" cmpd="sng">
                      <a:solidFill>
                        <a:srgbClr val="CBBDC0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BDC0"/>
                      </a:solidFill>
                      <a:prstDash val="solid"/>
                    </a:lnB>
                    <a:solidFill>
                      <a:srgbClr val="FFE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 b="1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By hand</a:t>
                      </a:r>
                      <a:endParaRPr sz="13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7785" marR="57785" marT="57785" marB="57785" anchor="t">
                    <a:lnL w="12700" cmpd="sng">
                      <a:solidFill>
                        <a:srgbClr val="CBBDC0"/>
                      </a:solidFill>
                      <a:prstDash val="solid"/>
                    </a:lnL>
                    <a:lnR w="12700" cmpd="sng">
                      <a:solidFill>
                        <a:srgbClr val="CBBDC0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BDC0"/>
                      </a:solidFill>
                      <a:prstDash val="solid"/>
                    </a:lnB>
                    <a:solidFill>
                      <a:srgbClr val="FFEDF1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Find a component</a:t>
                      </a:r>
                      <a:endParaRPr sz="13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7785" marR="57785" marT="57785" marB="57785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BDC0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PrimeNG MCP · index.json · Storybook MCP</a:t>
                      </a:r>
                      <a:endParaRPr sz="13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7785" marR="57785" marT="57785" marB="57785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BDC0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Find a component · plectrum catalogue</a:t>
                      </a:r>
                      <a:endParaRPr sz="13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7785" marR="57785" marT="57785" marB="57785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BDC0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Create a component</a:t>
                      </a:r>
                      <a:endParaRPr sz="13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7785" marR="57785" marT="57785" marB="57785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/plectrum and its specialists</a:t>
                      </a:r>
                      <a:endParaRPr sz="13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7785" marR="57785" marT="57785" marB="57785" anchor="t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plectrum scaffold · pds:component</a:t>
                      </a:r>
                      <a:endParaRPr sz="13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7785" marR="57785" marT="57785" marB="57785" anchor="t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Token scripts</a:t>
                      </a:r>
                      <a:endParaRPr sz="13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7785" marR="57785" marT="57785" marB="57785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the agent runs them</a:t>
                      </a:r>
                      <a:endParaRPr sz="13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7785" marR="57785" marT="57785" marB="57785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the same commands in a terminal</a:t>
                      </a:r>
                      <a:endParaRPr sz="13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7785" marR="57785" marT="57785" marB="57785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Figma to tokens</a:t>
                      </a:r>
                      <a:endParaRPr sz="13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7785" marR="57785" marT="57785" marB="57785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agent + Figma MCP, or plugin sync</a:t>
                      </a:r>
                      <a:endParaRPr sz="13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7785" marR="57785" marT="57785" marB="57785" anchor="t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plugin sync → CI audit → reviewed PR</a:t>
                      </a:r>
                      <a:endParaRPr sz="13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7785" marR="57785" marT="57785" marB="57785" anchor="t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Tokens to Figma</a:t>
                      </a:r>
                      <a:endParaRPr sz="13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7785" marR="57785" marT="57785" marB="57785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agent + Figma MCP</a:t>
                      </a:r>
                      <a:endParaRPr sz="13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7785" marR="57785" marT="57785" marB="57785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the Plectrum tokens plugin</a:t>
                      </a:r>
                      <a:endParaRPr sz="13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7785" marR="57785" marT="57785" marB="57785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Figma component</a:t>
                      </a:r>
                      <a:endParaRPr sz="13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7785" marR="57785" marT="57785" marB="57785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agent on a Custom components branch</a:t>
                      </a:r>
                      <a:endParaRPr sz="13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7785" marR="57785" marT="57785" marB="57785" anchor="t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sz="13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a designer draws it</a:t>
                      </a:r>
                      <a:endParaRPr sz="13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7785" marR="57785" marT="57785" marB="57785" anchor="t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F73E772-8C64-4C48-B375-FCBC8229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353719"/>
            <a:ext cx="6223000" cy="954881"/>
          </a:xfrm>
          <a:prstGeom xmlns:a="http://schemas.openxmlformats.org/drawingml/2006/main" prst="roundRect">
            <a:avLst>
              <a:gd name="adj" fmla="val 10640"/>
            </a:avLst>
          </a:prstGeom>
          <a:solidFill xmlns:a="http://schemas.openxmlformats.org/drawingml/2006/main">
            <a:srgbClr val="2B2B2E"/>
          </a:solidFill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B1D24B2-2D36-4F35-B822-165A4013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80719"/>
            <a:ext cx="5991098" cy="51296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920"/>
              </a:lnSpc>
              <a:buNone/>
            </a:pPr>
            <a:r>
              <a:rPr sz="1600" b="1">
                <a:solidFill>
                  <a:srgbClr val="FFFFFF"/>
                </a:solidFill>
                <a:latin typeface="Alegreya Sans"/>
                <a:ea typeface="Alegreya Sans"/>
                <a:cs typeface="Alegreya Sans"/>
              </a:rPr>
              <a:t>“You can still do any of these steps by hand. It is a choice, not a requirement.”</a:t>
            </a:r>
            <a:endParaRPr sz="16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EF07FE-CAD1-40C6-9F7E-AB419BAB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968280"/>
            <a:ext cx="5991098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C9C9CF"/>
                </a:solidFill>
                <a:latin typeface="Nunito Sans"/>
                <a:ea typeface="Nunito Sans"/>
                <a:cs typeface="Nunito Sans"/>
              </a:rPr>
              <a:t>Storybook › AI strategy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A5AF65D-ADC7-4FD7-BF9D-FD261D0E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53719"/>
            <a:ext cx="4140200" cy="954881"/>
          </a:xfrm>
          <a:prstGeom xmlns:a="http://schemas.openxmlformats.org/drawingml/2006/main" prst="roundRect">
            <a:avLst>
              <a:gd name="adj" fmla="val 10640"/>
            </a:avLst>
          </a:prstGeom>
          <a:solidFill xmlns:a="http://schemas.openxmlformats.org/drawingml/2006/main">
            <a:srgbClr val="FFEDF1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6E31A9-18F0-4807-991F-D4883B7B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00" y="4584799"/>
            <a:ext cx="3845814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00"/>
              </a:lnSpc>
              <a:buNone/>
            </a:pPr>
            <a:r>
              <a:rPr sz="1500" b="1">
                <a:solidFill>
                  <a:srgbClr val="DA002F"/>
                </a:solidFill>
                <a:latin typeface="Nunito Sans"/>
                <a:ea typeface="Nunito Sans"/>
                <a:cs typeface="Nunito Sans"/>
              </a:rPr>
              <a:t>Scripts and CI run regardless</a:t>
            </a:r>
            <a:endParaRPr sz="15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32F7F0D-A530-4F76-A52F-9876D7F7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2200" y="4864199"/>
            <a:ext cx="3845814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46464C"/>
                </a:solidFill>
                <a:latin typeface="Nunito Sans"/>
                <a:ea typeface="Nunito Sans"/>
                <a:cs typeface="Nunito Sans"/>
              </a:rPr>
              <a:t>CI applies to agent and human changes alike.</a:t>
            </a:r>
            <a:endParaRPr sz="12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EADF35C-BC8F-4CB3-A425-E41BC266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238280"/>
            <a:ext cx="78486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Plectrum · Storybook for application teams</a:t>
            </a:r>
            <a:endParaRPr sz="1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3C16B3-A8B1-4454-AC3B-5C2A4D43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400" y="6238280"/>
            <a:ext cx="10668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09 / 16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9512711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F68986B-7C06-417C-9EF3-D0B14AA4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12800"/>
            <a:ext cx="10883392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 spc="150">
                <a:solidFill>
                  <a:srgbClr val="333333"/>
                </a:solidFill>
                <a:latin typeface="Alegreya Sans"/>
                <a:ea typeface="Alegreya Sans"/>
                <a:cs typeface="Alegreya Sans"/>
              </a:rPr>
              <a:t>CI — THE GATES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68801D2-A002-4C6F-84D6-A219B7AD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094680"/>
            <a:ext cx="10883392" cy="452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60"/>
              </a:lnSpc>
              <a:buNone/>
            </a:pPr>
            <a:r>
              <a:rPr sz="3200" b="1">
                <a:solidFill>
                  <a:srgbClr val="DA002F"/>
                </a:solidFill>
                <a:latin typeface="Alegreya Sans"/>
                <a:ea typeface="Alegreya Sans"/>
                <a:cs typeface="Alegreya Sans"/>
              </a:rPr>
              <a:t>Clear checks for Core and application teams</a:t>
            </a:r>
            <a:endParaRPr sz="3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356C2FD-DF88-460F-A19D-7F2659AC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749921"/>
            <a:ext cx="2527300" cy="2090241"/>
          </a:xfrm>
          <a:prstGeom xmlns:a="http://schemas.openxmlformats.org/drawingml/2006/main" prst="roundRect">
            <a:avLst>
              <a:gd name="adj" fmla="val 486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203200" dist="76200" dir="5400000" sx="100000" sy="100000" kx="0" ky="0" algn="bl" rotWithShape="0">
              <a:srgbClr val="78142D">
                <a:alpha val="7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E2E6DE1-6140-4605-96C9-B724A88B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749921"/>
            <a:ext cx="2527300" cy="2090241"/>
          </a:xfrm>
          <a:custGeom xmlns:a="http://schemas.openxmlformats.org/drawingml/2006/main">
            <a:rect l="l" t="t" r="r" b="b"/>
            <a:pathLst>
              <a:path w="2527300" h="2090241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425700" y="0"/>
                </a:lnTo>
                <a:arcTo wR="101600" hR="101600" stAng="16200000" swAng="5400000"/>
                <a:lnTo>
                  <a:pt x="25273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 xmlns:a="http://schemas.openxmlformats.org/drawingml/2006/main">
            <a:srgbClr val="7A838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2E60B66-4980-42D9-BB9C-80CB3B6A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78521"/>
            <a:ext cx="2236851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 spc="100">
                <a:solidFill>
                  <a:srgbClr val="4A535B"/>
                </a:solidFill>
                <a:latin typeface="Nunito Sans"/>
                <a:ea typeface="Nunito Sans"/>
                <a:cs typeface="Nunito Sans"/>
              </a:rPr>
              <a:t>BEFORE COMMIT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B2D406B-FB09-4868-9F95-84B7E648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8041"/>
            <a:ext cx="2236851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4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A git hook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4C176CF-C982-41FB-B8B0-3037F5F7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7562"/>
            <a:ext cx="2236851" cy="9092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docs and contracts</a:t>
            </a:r>
            <a:endParaRPr sz="1200"/>
          </a:p>
          <a:p xmlns:a="http://schemas.openxmlformats.org/drawingml/2006/main"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token prefix and usage</a:t>
            </a:r>
            <a:endParaRPr sz="1200"/>
          </a:p>
          <a:p xmlns:a="http://schemas.openxmlformats.org/drawingml/2006/main"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style lint</a:t>
            </a:r>
            <a:endParaRPr sz="1200"/>
          </a:p>
          <a:p xmlns:a="http://schemas.openxmlformats.org/drawingml/2006/main"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generated files saved</a:t>
            </a:r>
            <a:endParaRPr sz="12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2B8AE6A-888C-4E01-B305-D09EEE51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00" y="1749921"/>
            <a:ext cx="2527300" cy="2090241"/>
          </a:xfrm>
          <a:prstGeom xmlns:a="http://schemas.openxmlformats.org/drawingml/2006/main" prst="roundRect">
            <a:avLst>
              <a:gd name="adj" fmla="val 486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203200" dist="76200" dir="5400000" sx="100000" sy="100000" kx="0" ky="0" algn="bl" rotWithShape="0">
              <a:srgbClr val="78142D">
                <a:alpha val="7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E60C06D-5C87-4350-81A6-9F5EB463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00" y="1749921"/>
            <a:ext cx="2527300" cy="2090241"/>
          </a:xfrm>
          <a:custGeom xmlns:a="http://schemas.openxmlformats.org/drawingml/2006/main">
            <a:rect l="l" t="t" r="r" b="b"/>
            <a:pathLst>
              <a:path w="2527300" h="2090241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425700" y="0"/>
                </a:lnTo>
                <a:arcTo wR="101600" hR="101600" stAng="16200000" swAng="5400000"/>
                <a:lnTo>
                  <a:pt x="25273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 xmlns:a="http://schemas.openxmlformats.org/drawingml/2006/main">
            <a:srgbClr val="487395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60DD298-6B43-4630-8443-8B40CB1D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300" y="1978521"/>
            <a:ext cx="2236851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 spc="100">
                <a:solidFill>
                  <a:srgbClr val="2E526D"/>
                </a:solidFill>
                <a:latin typeface="Nunito Sans"/>
                <a:ea typeface="Nunito Sans"/>
                <a:cs typeface="Nunito Sans"/>
              </a:rPr>
              <a:t>EVERY PLECTRUM PR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2409841-12FA-4816-B376-5CBA6E6B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300" y="2268041"/>
            <a:ext cx="2236851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4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Seven CI jobs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43F1AD0-9EB7-49E3-9EB0-DA932C64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300" y="2557562"/>
            <a:ext cx="2236851" cy="11302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token drift and lint</a:t>
            </a:r>
            <a:endParaRPr sz="1200"/>
          </a:p>
          <a:p xmlns:a="http://schemas.openxmlformats.org/drawingml/2006/main"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contracts, index, docs</a:t>
            </a:r>
            <a:endParaRPr sz="1200"/>
          </a:p>
          <a:p xmlns:a="http://schemas.openxmlformats.org/drawingml/2006/main"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every story: render, play, a11y</a:t>
            </a:r>
            <a:endParaRPr sz="1200"/>
          </a:p>
          <a:p xmlns:a="http://schemas.openxmlformats.org/drawingml/2006/main"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packed consumer build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C709AB1-E611-4902-9A2D-2A77FEC2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49921"/>
            <a:ext cx="2527300" cy="2090241"/>
          </a:xfrm>
          <a:prstGeom xmlns:a="http://schemas.openxmlformats.org/drawingml/2006/main" prst="roundRect">
            <a:avLst>
              <a:gd name="adj" fmla="val 486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203200" dist="76200" dir="5400000" sx="100000" sy="100000" kx="0" ky="0" algn="bl" rotWithShape="0">
              <a:srgbClr val="78142D">
                <a:alpha val="7000"/>
              </a:srgbClr>
            </a:outerShdw>
          </a:effectLst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25CDCF4-38B8-4689-9D91-1325F96A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49921"/>
            <a:ext cx="2527300" cy="2090241"/>
          </a:xfrm>
          <a:custGeom xmlns:a="http://schemas.openxmlformats.org/drawingml/2006/main">
            <a:rect l="l" t="t" r="r" b="b"/>
            <a:pathLst>
              <a:path w="2527300" h="2090241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425700" y="0"/>
                </a:lnTo>
                <a:arcTo wR="101600" hR="101600" stAng="16200000" swAng="5400000"/>
                <a:lnTo>
                  <a:pt x="25273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 xmlns:a="http://schemas.openxmlformats.org/drawingml/2006/main">
            <a:srgbClr val="D0680F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087C390-8738-42F5-AE4F-F2039F5D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1978521"/>
            <a:ext cx="2236851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 spc="100">
                <a:solidFill>
                  <a:srgbClr val="8F4508"/>
                </a:solidFill>
                <a:latin typeface="Nunito Sans"/>
                <a:ea typeface="Nunito Sans"/>
                <a:cs typeface="Nunito Sans"/>
              </a:rPr>
              <a:t>EVERY TOKEN SYNC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167A3E4-D8F4-4597-B958-E4F0DFFD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268041"/>
            <a:ext cx="2236851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4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A sync workflow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F871B20-2627-4102-8924-887BD06D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557562"/>
            <a:ext cx="2236851" cy="11302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rebuild from the Figma dump</a:t>
            </a:r>
            <a:endParaRPr sz="1200"/>
          </a:p>
          <a:p xmlns:a="http://schemas.openxmlformats.org/drawingml/2006/main"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three-way drift audit</a:t>
            </a:r>
            <a:endParaRPr sz="1200"/>
          </a:p>
          <a:p xmlns:a="http://schemas.openxmlformats.org/drawingml/2006/main"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preset validation</a:t>
            </a:r>
            <a:endParaRPr sz="1200"/>
          </a:p>
          <a:p xmlns:a="http://schemas.openxmlformats.org/drawingml/2006/main"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report in the PR and in Figma</a:t>
            </a:r>
            <a:endParaRPr sz="12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F8D781B-FA7E-4AC1-8090-0924D294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900" y="1749921"/>
            <a:ext cx="2527300" cy="2090241"/>
          </a:xfrm>
          <a:prstGeom xmlns:a="http://schemas.openxmlformats.org/drawingml/2006/main" prst="roundRect">
            <a:avLst>
              <a:gd name="adj" fmla="val 486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203200" dist="76200" dir="5400000" sx="100000" sy="100000" kx="0" ky="0" algn="bl" rotWithShape="0">
              <a:srgbClr val="78142D">
                <a:alpha val="7000"/>
              </a:srgbClr>
            </a:outerShdw>
          </a:effectLst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833E9B0-D767-4330-98BA-842C44DC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900" y="1749921"/>
            <a:ext cx="2527300" cy="2090241"/>
          </a:xfrm>
          <a:custGeom xmlns:a="http://schemas.openxmlformats.org/drawingml/2006/main">
            <a:rect l="l" t="t" r="r" b="b"/>
            <a:pathLst>
              <a:path w="2527300" h="2090241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2425700" y="0"/>
                </a:lnTo>
                <a:arcTo wR="101600" hR="101600" stAng="16200000" swAng="5400000"/>
                <a:lnTo>
                  <a:pt x="25273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 xmlns:a="http://schemas.openxmlformats.org/drawingml/2006/main">
            <a:srgbClr val="2F7D52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94CEFDE-1652-4AD9-965F-FE31EBFF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78521"/>
            <a:ext cx="2236851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 spc="100">
                <a:solidFill>
                  <a:srgbClr val="1F5A3A"/>
                </a:solidFill>
                <a:latin typeface="Nunito Sans"/>
                <a:ea typeface="Nunito Sans"/>
                <a:cs typeface="Nunito Sans"/>
              </a:rPr>
              <a:t>EVERY APP REPO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FE0E17C-1EDE-43E2-B1FB-54E11A4F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68041"/>
            <a:ext cx="2236851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4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App checks + tests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201F144-D68B-493D-BF03-DE05E953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57562"/>
            <a:ext cx="2236851" cy="9092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tokens and local contracts</a:t>
            </a:r>
            <a:endParaRPr sz="1200"/>
          </a:p>
          <a:p xmlns:a="http://schemas.openxmlformats.org/drawingml/2006/main"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app build and unit tests</a:t>
            </a:r>
            <a:endParaRPr sz="1200"/>
          </a:p>
          <a:p xmlns:a="http://schemas.openxmlformats.org/drawingml/2006/main"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Storybook build and tests</a:t>
            </a:r>
            <a:endParaRPr sz="1200"/>
          </a:p>
          <a:p xmlns:a="http://schemas.openxmlformats.org/drawingml/2006/main">
            <a:pPr marL="182880" indent="-155194" algn="l">
              <a:lnSpc>
                <a:spcPts val="1740"/>
              </a:lnSpc>
              <a:buSzPct val="100000"/>
              <a:buChar char="•"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play, a11y and evidence</a:t>
            </a:r>
            <a:endParaRPr sz="12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B707510-F944-4DB5-A8F6-7135D6BE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068763"/>
            <a:ext cx="5514479" cy="3580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6E9"/>
          </a:solidFill>
        </p:spPr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6facb1ba04df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90600" y="4146153"/>
            <a:ext cx="203200" cy="203200"/>
          </a:xfrm>
          <a:prstGeom xmlns:a="http://schemas.openxmlformats.org/drawingml/2006/main" prst="rect">
            <a:avLst/>
          </a:prstGeom>
        </p:spPr>
      </p:pic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26100E8-3187-45D8-8ECF-D645FA59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4132263"/>
            <a:ext cx="5025863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>
                <a:solidFill>
                  <a:srgbClr val="46464C"/>
                </a:solidFill>
                <a:latin typeface="Nunito Sans"/>
                <a:ea typeface="Nunito Sans"/>
                <a:cs typeface="Nunito Sans"/>
              </a:rPr>
              <a:t>Then the release: same commit's CI, clean install, release manifest</a:t>
            </a:r>
            <a:endParaRPr sz="13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090311F-2F7E-438F-80CE-BF5FA574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238280"/>
            <a:ext cx="78486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Plectrum · Storybook for application teams</a:t>
            </a:r>
            <a:endParaRPr sz="12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7D72FEB-4DF2-4DDF-BB58-2333EF16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400" y="6238280"/>
            <a:ext cx="10668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10 / 16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4828789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907A568-6193-410E-8594-27C4B57B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12800"/>
            <a:ext cx="10883392" cy="25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774"/>
              </a:lnSpc>
              <a:buNone/>
            </a:pPr>
            <a:r>
              <a:rPr sz="1268" b="1" spc="150">
                <a:solidFill>
                  <a:srgbClr val="333333"/>
                </a:solidFill>
                <a:latin typeface="Alegreya Sans"/>
                <a:ea typeface="Alegreya Sans"/>
                <a:cs typeface="Alegreya Sans"/>
              </a:rPr>
              <a:t>CI AND PRS — EVIDENCE</a:t>
            </a:r>
            <a:endParaRPr sz="1268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19C4559-8A14-428D-823A-59111005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088529"/>
            <a:ext cx="10883392" cy="440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266"/>
              </a:lnSpc>
              <a:buNone/>
            </a:pPr>
            <a:r>
              <a:rPr sz="3110" b="1">
                <a:solidFill>
                  <a:srgbClr val="DA002F"/>
                </a:solidFill>
                <a:latin typeface="Alegreya Sans"/>
                <a:ea typeface="Alegreya Sans"/>
                <a:cs typeface="Alegreya Sans"/>
              </a:rPr>
              <a:t>Tests and CI provide the PR evidence</a:t>
            </a:r>
            <a:endParaRPr sz="311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9DF3E26-34AC-4C56-870A-6453AD8F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" y="1685032"/>
            <a:ext cx="10560050" cy="3155652"/>
          </a:xfrm>
          <a:prstGeom xmlns:a="http://schemas.openxmlformats.org/drawingml/2006/main" prst="roundRect">
            <a:avLst>
              <a:gd name="adj" fmla="val 31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BD3D9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A30C566-5C7D-4777-B426-73839CE8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350" y="2339082"/>
            <a:ext cx="1014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BD3D9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F402466-DD82-4CB7-AB6C-21F66305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350" y="1871166"/>
            <a:ext cx="3401060" cy="345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520"/>
              </a:lnSpc>
              <a:buNone/>
            </a:pPr>
            <a:r>
              <a:rPr sz="1800" b="1">
                <a:solidFill>
                  <a:srgbClr val="2E526D"/>
                </a:solidFill>
                <a:latin typeface="Nunito Sans"/>
                <a:ea typeface="Nunito Sans"/>
                <a:cs typeface="Nunito Sans"/>
              </a:rPr>
              <a:t>Unit tests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FC1CFD9-F09B-45D5-9EB7-2DD20892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88827"/>
            <a:ext cx="7024497" cy="309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240"/>
              </a:lnSpc>
              <a:buNone/>
            </a:pPr>
            <a:r>
              <a:rPr sz="1600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Vitest logic + coverage</a:t>
            </a:r>
            <a:endParaRPr sz="16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550E333-B79A-486E-BF0C-7270E6B2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350" y="2954933"/>
            <a:ext cx="1014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BD3D9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313FC61-F265-4C3F-A7F5-5936AB59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350" y="2487017"/>
            <a:ext cx="3401060" cy="345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520"/>
              </a:lnSpc>
              <a:buNone/>
            </a:pPr>
            <a:r>
              <a:rPr sz="1800" b="1">
                <a:solidFill>
                  <a:srgbClr val="2E526D"/>
                </a:solidFill>
                <a:latin typeface="Nunito Sans"/>
                <a:ea typeface="Nunito Sans"/>
                <a:cs typeface="Nunito Sans"/>
              </a:rPr>
              <a:t>Story tests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45EE1CA-048C-4670-8325-630959CF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04777"/>
            <a:ext cx="7024497" cy="309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240"/>
              </a:lnSpc>
              <a:buNone/>
            </a:pPr>
            <a:r>
              <a:rPr sz="1600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Rendering, interactions + accessibility</a:t>
            </a:r>
            <a:endParaRPr sz="16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206F966-98EC-4136-873E-851C46FA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350" y="3570883"/>
            <a:ext cx="1014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BD3D9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1931266-B343-40AA-80F4-08BFCDF2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350" y="3102967"/>
            <a:ext cx="3401060" cy="345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520"/>
              </a:lnSpc>
              <a:buNone/>
            </a:pPr>
            <a:r>
              <a:rPr sz="1800" b="1">
                <a:solidFill>
                  <a:srgbClr val="2E526D"/>
                </a:solidFill>
                <a:latin typeface="Nunito Sans"/>
                <a:ea typeface="Nunito Sans"/>
                <a:cs typeface="Nunito Sans"/>
              </a:rPr>
              <a:t>Contracts + tokens</a:t>
            </a:r>
            <a:endParaRPr sz="18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4EE55EA-1A10-4838-B96E-1642FA11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0628"/>
            <a:ext cx="7024497" cy="309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240"/>
              </a:lnSpc>
              <a:buNone/>
            </a:pPr>
            <a:r>
              <a:rPr sz="1600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API, docs and generated-file consistency</a:t>
            </a:r>
            <a:endParaRPr sz="16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DDB5587-A51B-4148-A16A-A6FA2E14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350" y="4186734"/>
            <a:ext cx="1014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BD3D9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ABD26E2-180C-42F1-8935-77C044A6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350" y="3718818"/>
            <a:ext cx="3401060" cy="345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520"/>
              </a:lnSpc>
              <a:buNone/>
            </a:pPr>
            <a:r>
              <a:rPr sz="1800" b="1">
                <a:solidFill>
                  <a:srgbClr val="2E526D"/>
                </a:solidFill>
                <a:latin typeface="Nunito Sans"/>
                <a:ea typeface="Nunito Sans"/>
                <a:cs typeface="Nunito Sans"/>
              </a:rPr>
              <a:t>Package smoke</a:t>
            </a:r>
            <a:endParaRPr sz="1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CC77DAC-40AB-4C06-861F-28F3CD16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36578"/>
            <a:ext cx="7024497" cy="309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240"/>
              </a:lnSpc>
              <a:buNone/>
            </a:pPr>
            <a:r>
              <a:rPr sz="1600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Install + build in a clean app, like a team repo</a:t>
            </a:r>
            <a:endParaRPr sz="16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616FBF8-F2F7-4538-A4BA-D5181860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350" y="4334669"/>
            <a:ext cx="3401060" cy="345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520"/>
              </a:lnSpc>
              <a:buNone/>
            </a:pPr>
            <a:r>
              <a:rPr sz="1800" b="1">
                <a:solidFill>
                  <a:srgbClr val="2E526D"/>
                </a:solidFill>
                <a:latin typeface="Nunito Sans"/>
                <a:ea typeface="Nunito Sans"/>
                <a:cs typeface="Nunito Sans"/>
              </a:rPr>
              <a:t>Application CI</a:t>
            </a:r>
            <a:endParaRPr sz="18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96B0AB7-1826-4C41-8ADE-CC0C5CCE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52429"/>
            <a:ext cx="7024497" cy="309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240"/>
              </a:lnSpc>
              <a:buNone/>
            </a:pPr>
            <a:r>
              <a:rPr sz="1600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Static checks, app build, unit + story tests</a:t>
            </a:r>
            <a:endParaRPr sz="16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5A58F7F-9EAA-4470-B8C7-334D6A54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021659"/>
            <a:ext cx="10566400" cy="526852"/>
          </a:xfrm>
          <a:prstGeom xmlns:a="http://schemas.openxmlformats.org/drawingml/2006/main" prst="roundRect">
            <a:avLst>
              <a:gd name="adj" fmla="val 19284"/>
            </a:avLst>
          </a:prstGeom>
          <a:solidFill xmlns:a="http://schemas.openxmlformats.org/drawingml/2006/main">
            <a:srgbClr val="2B2B2E"/>
          </a:solidFill>
        </p:spPr>
      </p:sp>
      <p:pic>
        <p:nvPicPr>
          <p:cNvPr id="4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e5d24d8fb4a8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16000" y="517078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3C576902-EB3A-4620-B612-955A98DD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42905"/>
            <a:ext cx="3989296" cy="309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240"/>
              </a:lnSpc>
              <a:buNone/>
            </a:pPr>
            <a:r>
              <a:rPr sz="1600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Required gates apply with or without AI</a:t>
            </a:r>
            <a:endParaRPr sz="16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BEED19D-1F09-4678-BED6-37B97E45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637411"/>
            <a:ext cx="3124519" cy="2299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Visual regressions: Chromatic when enabled</a:t>
            </a:r>
            <a:endParaRPr sz="12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7C0F211-5CE2-438D-BC04-48ACEC7A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114" y="5637411"/>
            <a:ext cx="4066045" cy="2299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Storybook reference: Docs / Maintainer workflow / Testing</a:t>
            </a:r>
            <a:endParaRPr sz="12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68438CD-C031-4A04-9FAB-41E708CA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238280"/>
            <a:ext cx="78486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Plectrum · Storybook for application teams</a:t>
            </a:r>
            <a:endParaRPr sz="12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6F4E4E-0BA5-40D1-8731-263D8BF4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400" y="6238280"/>
            <a:ext cx="10668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11 / 16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7617725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75FBF58-6934-4BF0-9FC8-A968646D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12800"/>
            <a:ext cx="10883392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 spc="150">
                <a:solidFill>
                  <a:srgbClr val="333333"/>
                </a:solidFill>
                <a:latin typeface="Alegreya Sans"/>
                <a:ea typeface="Alegreya Sans"/>
                <a:cs typeface="Alegreya Sans"/>
              </a:rPr>
              <a:t>PULL REQUESTS — THE REVIEW APPROACH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E08383E-3E09-45DD-BD6E-0AE89F1A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094680"/>
            <a:ext cx="10883392" cy="452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60"/>
              </a:lnSpc>
              <a:buNone/>
            </a:pPr>
            <a:r>
              <a:rPr sz="3200" b="1">
                <a:solidFill>
                  <a:srgbClr val="DA002F"/>
                </a:solidFill>
                <a:latin typeface="Alegreya Sans"/>
                <a:ea typeface="Alegreya Sans"/>
                <a:cs typeface="Alegreya Sans"/>
              </a:rPr>
              <a:t>Every change lands through a reviewed PR</a:t>
            </a:r>
            <a:endParaRPr sz="3200"/>
          </a:p>
        </p:txBody>
      </p:sp>
      <p:graphicFrame>
        <p:nvGraphicFramePr>
          <p:cNvPr id="11" name="Table 0"/>
          <p:cNvGraphicFramePr/>
          <p:nvPr/>
        </p:nvGraphicFramePr>
        <p:xfrm>
          <a:off xmlns:a="http://schemas.openxmlformats.org/drawingml/2006/main" x="825500" y="1762621"/>
          <a:ext xmlns:a="http://schemas.openxmlformats.org/drawingml/2006/main" cx="10553700" cy="2660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88258"/>
                <a:gridCol w="3377184"/>
                <a:gridCol w="3588258"/>
              </a:tblGrid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What changes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BDC0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BDC0"/>
                      </a:solidFill>
                      <a:prstDash val="solid"/>
                    </a:lnB>
                    <a:solidFill>
                      <a:srgbClr val="FFE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Where it lands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BDC0"/>
                      </a:solidFill>
                      <a:prstDash val="solid"/>
                    </a:lnL>
                    <a:lnR w="12700" cmpd="sng">
                      <a:solidFill>
                        <a:srgbClr val="CBBDC0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BDC0"/>
                      </a:solidFill>
                      <a:prstDash val="solid"/>
                    </a:lnB>
                    <a:solidFill>
                      <a:srgbClr val="FFED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Who approves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BDC0"/>
                      </a:solidFill>
                      <a:prstDash val="solid"/>
                    </a:lnL>
                    <a:lnR w="12700" cmpd="sng">
                      <a:solidFill>
                        <a:srgbClr val="CBBDC0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BDC0"/>
                      </a:solidFill>
                      <a:prstDash val="solid"/>
                    </a:lnB>
                    <a:solidFill>
                      <a:srgbClr val="FFEDF1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Components, styles, tokens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BDC0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PR on Plectrum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BDC0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Code Owner and design-system review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BDC0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A Figma token sync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promotion PR, report as body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a developer; the designer sees it in Figma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An app's candidate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intake PR, data only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the Core team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A code-owned token for Figma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branch proposals/{app}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a designer merges and publishes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An adoption report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central PR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the Core team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A new version for your app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Renovate or Dependabot PR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your team, with the CI profile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BCB"/>
                      </a:solidFill>
                      <a:prstDash val="solid"/>
                    </a:lnL>
                    <a:lnR w="12700" cmpd="sng">
                      <a:solidFill>
                        <a:srgbClr val="CBCBCB"/>
                      </a:solidFill>
                      <a:prstDash val="solid"/>
                    </a:lnR>
                    <a:lnT w="12700" cmpd="sng">
                      <a:solidFill>
                        <a:srgbClr val="CBC7C7"/>
                      </a:solidFill>
                      <a:prstDash val="solid"/>
                    </a:lnT>
                    <a:lnB w="12700" cmpd="sng">
                      <a:solidFill>
                        <a:srgbClr val="CBCB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A release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version PR, then attended release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>
                          <a:solidFill>
                            <a:srgbClr val="2B2B2E"/>
                          </a:solidFill>
                          <a:latin typeface="Nunito Sans"/>
                          <a:ea typeface="Nunito Sans"/>
                          <a:cs typeface="Nunito Sans"/>
                        </a:rPr>
                        <a:t>the release maintainer</a:t>
                      </a:r>
                      <a:endParaRPr sz="1200">
                        <a:latin typeface="Nunito Sans"/>
                        <a:ea typeface="Nunito Sans"/>
                        <a:cs typeface="Nunito Sans"/>
                      </a:endParaRPr>
                    </a:p>
                  </a:txBody>
                  <a:tcPr marL="53340" marR="53340" marT="53340" marB="53340" anchor="t">
                    <a:lnL w="12700" cmpd="sng">
                      <a:solidFill>
                        <a:srgbClr val="CBC7C7"/>
                      </a:solidFill>
                      <a:prstDash val="solid"/>
                    </a:lnL>
                    <a:lnR w="12700" cmpd="sng">
                      <a:solidFill>
                        <a:srgbClr val="CBC7C7"/>
                      </a:solidFill>
                      <a:prstDash val="solid"/>
                    </a:lnR>
                    <a:lnT w="12700" cmpd="sng">
                      <a:solidFill>
                        <a:srgbClr val="CBCBCB"/>
                      </a:solidFill>
                      <a:prstDash val="solid"/>
                    </a:lnT>
                    <a:lnB w="12700" cmpd="sng">
                      <a:solidFill>
                        <a:srgbClr val="CBC7C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9D92974-1EFE-42E8-9C18-81EE98DD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651871"/>
            <a:ext cx="10883392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Nothing reaches main, the Figma main file or an app without a human approval.</a:t>
            </a:r>
            <a:endParaRPr sz="12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69E1FFE-9222-42D4-BFF9-97D3ED03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238280"/>
            <a:ext cx="78486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Plectrum · Storybook for application teams</a:t>
            </a:r>
            <a:endParaRPr sz="12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D2F3D81-E557-4A94-8F75-DBA1928C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400" y="6238280"/>
            <a:ext cx="10668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12 / 16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6729653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F02C1F2-966E-4688-97A7-8689602A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12800"/>
            <a:ext cx="10883392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 spc="150">
                <a:solidFill>
                  <a:srgbClr val="333333"/>
                </a:solidFill>
                <a:latin typeface="Alegreya Sans"/>
                <a:ea typeface="Alegreya Sans"/>
                <a:cs typeface="Alegreya Sans"/>
              </a:rPr>
              <a:t>CONTRIBUTING — LOCAL FIRST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37385DF-F7D3-4AEC-9CB8-517A752A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094680"/>
            <a:ext cx="10883392" cy="452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60"/>
              </a:lnSpc>
              <a:buNone/>
            </a:pPr>
            <a:r>
              <a:rPr sz="3200" b="1">
                <a:solidFill>
                  <a:srgbClr val="DA002F"/>
                </a:solidFill>
                <a:latin typeface="Alegreya Sans"/>
                <a:ea typeface="Alegreya Sans"/>
                <a:cs typeface="Alegreya Sans"/>
              </a:rPr>
              <a:t>Build locally; propose shared intake</a:t>
            </a:r>
            <a:endParaRPr sz="3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7106B5F-F44D-45AC-AD28-FE625C69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6421"/>
            <a:ext cx="17653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CEEEF"/>
          </a:solidFill>
          <a:ln xmlns:a="http://schemas.openxmlformats.org/drawingml/2006/main" w="12700">
            <a:solidFill>
              <a:srgbClr val="7A838C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2738331-8E5D-412E-ADB8-E852182F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" y="3096121"/>
            <a:ext cx="1498600" cy="46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750"/>
              </a:lnSpc>
              <a:buNone/>
            </a:pPr>
            <a:r>
              <a:rPr sz="14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What kind of change?</a:t>
            </a:r>
            <a:endParaRPr sz="14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882222C-131D-4683-AAD2-700FD7B3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150" y="1857871"/>
            <a:ext cx="2019300" cy="939800"/>
          </a:xfrm>
          <a:prstGeom xmlns:a="http://schemas.openxmlformats.org/drawingml/2006/main" prst="roundRect">
            <a:avLst>
              <a:gd name="adj" fmla="val 101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487395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9C51AA0-1AA5-4B5C-AF38-94904A02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900" y="2105521"/>
            <a:ext cx="1752854" cy="46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750"/>
              </a:lnSpc>
              <a:buNone/>
            </a:pPr>
            <a:r>
              <a:rPr sz="14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Typo, broken example, wrong link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C508194-384D-452E-8408-33C45AA0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150" y="3845421"/>
            <a:ext cx="2019300" cy="939800"/>
          </a:xfrm>
          <a:prstGeom xmlns:a="http://schemas.openxmlformats.org/drawingml/2006/main" prst="roundRect">
            <a:avLst>
              <a:gd name="adj" fmla="val 10135"/>
            </a:avLst>
          </a:prstGeom>
          <a:solidFill xmlns:a="http://schemas.openxmlformats.org/drawingml/2006/main">
            <a:srgbClr val="E2F1E7"/>
          </a:solidFill>
          <a:ln xmlns:a="http://schemas.openxmlformats.org/drawingml/2006/main" w="12700">
            <a:solidFill>
              <a:srgbClr val="2F7D52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E9D4EA5-3D67-4874-B573-1C5F9FD7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900" y="4093071"/>
            <a:ext cx="1752854" cy="46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750"/>
              </a:lnSpc>
              <a:buNone/>
            </a:pPr>
            <a:r>
              <a:rPr sz="14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Missing component, variant or token</a:t>
            </a:r>
            <a:endParaRPr sz="14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A2378B4-4121-4F82-B7B7-81936FC9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65821"/>
            <a:ext cx="17653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3ECF3"/>
          </a:solidFill>
          <a:ln xmlns:a="http://schemas.openxmlformats.org/drawingml/2006/main" w="12700">
            <a:solidFill>
              <a:srgbClr val="48739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42D4A00-4465-4228-8746-3E8CA91A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2097286"/>
            <a:ext cx="149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750"/>
              </a:lnSpc>
              <a:buNone/>
            </a:pPr>
            <a:r>
              <a:rPr sz="14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Pull request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3A3D508-BEB9-4D36-AF2D-D66DFFF2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2344936"/>
            <a:ext cx="14986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3C4D5A"/>
                </a:solidFill>
                <a:latin typeface="Nunito Sans"/>
                <a:ea typeface="Nunito Sans"/>
                <a:cs typeface="Nunito Sans"/>
              </a:rPr>
              <a:t>on Plectrum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EED3D07-89B2-4524-A333-43EBC032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53371"/>
            <a:ext cx="17653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CEEEF"/>
          </a:solidFill>
          <a:ln xmlns:a="http://schemas.openxmlformats.org/drawingml/2006/main" w="12700">
            <a:solidFill>
              <a:srgbClr val="7A838C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A33358F-9A24-4F24-A7A5-335A0053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4084836"/>
            <a:ext cx="149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750"/>
              </a:lnSpc>
              <a:buNone/>
            </a:pPr>
            <a:r>
              <a:rPr sz="14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Proposal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0964614-623E-42BC-AC0E-B4764054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4332486"/>
            <a:ext cx="14986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4A535B"/>
                </a:solidFill>
                <a:latin typeface="Nunito Sans"/>
                <a:ea typeface="Nunito Sans"/>
                <a:cs typeface="Nunito Sans"/>
              </a:rPr>
              <a:t>a GitHub issue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A1DB7CD-FF5A-4580-9CF6-86B60671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75471"/>
            <a:ext cx="3162300" cy="546100"/>
          </a:xfrm>
          <a:prstGeom xmlns:a="http://schemas.openxmlformats.org/drawingml/2006/main" prst="roundRect">
            <a:avLst>
              <a:gd name="adj" fmla="val 15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487395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FB4F6D4-D3E2-4172-B472-7C18394B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35201"/>
            <a:ext cx="2982468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2E526D"/>
                </a:solidFill>
                <a:latin typeface="JetBrains Mono"/>
                <a:ea typeface="JetBrains Mono"/>
                <a:cs typeface="JetBrains Mono"/>
              </a:rPr>
              <a:t>use-existing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48E1B6E-A167-4BB8-B93C-C09B652C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48521"/>
            <a:ext cx="2982468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PrimeNG, Core or an existing token</a:t>
            </a:r>
            <a:endParaRPr sz="12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7F849F2-3E99-47B7-8F81-50C27211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86671"/>
            <a:ext cx="3162300" cy="546100"/>
          </a:xfrm>
          <a:prstGeom xmlns:a="http://schemas.openxmlformats.org/drawingml/2006/main" prst="roundRect">
            <a:avLst>
              <a:gd name="adj" fmla="val 15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F7D52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FCAD461-F277-4D5C-8432-6C33C19F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46401"/>
            <a:ext cx="2982468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1F5A3A"/>
                </a:solidFill>
                <a:latin typeface="JetBrains Mono"/>
                <a:ea typeface="JetBrains Mono"/>
                <a:cs typeface="JetBrains Mono"/>
              </a:rPr>
              <a:t>app-specific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5224A1A-5706-49E7-A61F-BA6AAAF9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59721"/>
            <a:ext cx="2982468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stays in the application</a:t>
            </a:r>
            <a:endParaRPr sz="12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5B155F6-8A99-40A1-9B96-F95FB4F6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97871"/>
            <a:ext cx="3162300" cy="546100"/>
          </a:xfrm>
          <a:prstGeom xmlns:a="http://schemas.openxmlformats.org/drawingml/2006/main" prst="roundRect">
            <a:avLst>
              <a:gd name="adj" fmla="val 15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838C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2F4B3AF-77F2-48B2-AAF3-807E73C4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57601"/>
            <a:ext cx="2982468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4A535B"/>
                </a:solidFill>
                <a:latin typeface="JetBrains Mono"/>
                <a:ea typeface="JetBrains Mono"/>
                <a:cs typeface="JetBrains Mono"/>
              </a:rPr>
              <a:t>rejected</a:t>
            </a:r>
            <a:endParaRPr sz="12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3F5B47B-477A-4C78-9645-37BE60A1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70921"/>
            <a:ext cx="2982468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55555C"/>
                </a:solidFill>
                <a:latin typeface="Nunito Sans"/>
                <a:ea typeface="Nunito Sans"/>
                <a:cs typeface="Nunito Sans"/>
              </a:rPr>
              <a:t>no candidate</a:t>
            </a:r>
            <a:endParaRPr sz="12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AC78401-9C4E-4DBA-8EA9-12D5794C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25" y="5112246"/>
            <a:ext cx="3155950" cy="5397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3ECF3"/>
          </a:solidFill>
          <a:ln xmlns:a="http://schemas.openxmlformats.org/drawingml/2006/main" w="19050">
            <a:solidFill>
              <a:srgbClr val="487395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9373984-CEFB-4E9E-AE37-F820142C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250" y="5172571"/>
            <a:ext cx="2969387" cy="234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75"/>
              </a:lnSpc>
              <a:buNone/>
            </a:pPr>
            <a:r>
              <a:rPr sz="1196" b="1">
                <a:solidFill>
                  <a:srgbClr val="2E526D"/>
                </a:solidFill>
                <a:latin typeface="JetBrains Mono"/>
                <a:ea typeface="JetBrains Mono"/>
                <a:cs typeface="JetBrains Mono"/>
              </a:rPr>
              <a:t>approved-candidate</a:t>
            </a:r>
            <a:endParaRPr sz="1196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8DDF8A5-CFEC-4D0F-ACE4-365395E2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250" y="5382121"/>
            <a:ext cx="2969387" cy="234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75"/>
              </a:lnSpc>
              <a:buNone/>
            </a:pPr>
            <a:r>
              <a:rPr sz="1196">
                <a:solidFill>
                  <a:srgbClr val="3C4D5A"/>
                </a:solidFill>
                <a:latin typeface="Nunito Sans"/>
                <a:ea typeface="Nunito Sans"/>
                <a:cs typeface="Nunito Sans"/>
              </a:rPr>
              <a:t>Core may review shared intake</a:t>
            </a:r>
            <a:endParaRPr sz="1196"/>
          </a:p>
        </p:txBody>
      </p:sp>
      <p:pic>
        <p:nvPicPr>
          <p:cNvPr id="8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1467babb44eb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540000" y="3267571"/>
            <a:ext cx="482600" cy="101600"/>
          </a:xfrm>
          <a:prstGeom xmlns:a="http://schemas.openxmlformats.org/drawingml/2006/main" prst="rect">
            <a:avLst/>
          </a:prstGeom>
        </p:spPr>
      </p:pic>
      <p:pic>
        <p:nvPicPr>
          <p:cNvPr id="8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768b0c423482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21000" y="2276971"/>
            <a:ext cx="101600" cy="2089150"/>
          </a:xfrm>
          <a:prstGeom xmlns:a="http://schemas.openxmlformats.org/drawingml/2006/main" prst="rect">
            <a:avLst/>
          </a:prstGeom>
        </p:spPr>
      </p:pic>
      <p:pic>
        <p:nvPicPr>
          <p:cNvPr id="8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65e52a744481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21000" y="2276971"/>
            <a:ext cx="482600" cy="101600"/>
          </a:xfrm>
          <a:prstGeom xmlns:a="http://schemas.openxmlformats.org/drawingml/2006/main" prst="rect">
            <a:avLst/>
          </a:prstGeom>
        </p:spPr>
      </p:pic>
      <p:pic>
        <p:nvPicPr>
          <p:cNvPr id="8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5ad8e8a36446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21000" y="4264521"/>
            <a:ext cx="482600" cy="101600"/>
          </a:xfrm>
          <a:prstGeom xmlns:a="http://schemas.openxmlformats.org/drawingml/2006/main" prst="rect">
            <a:avLst/>
          </a:prstGeom>
        </p:spPr>
      </p:pic>
      <p:pic>
        <p:nvPicPr>
          <p:cNvPr id="8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a1a4dc9b8493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34000" y="2276971"/>
            <a:ext cx="863600" cy="101600"/>
          </a:xfrm>
          <a:prstGeom xmlns:a="http://schemas.openxmlformats.org/drawingml/2006/main" prst="rect">
            <a:avLst/>
          </a:prstGeom>
        </p:spPr>
      </p:pic>
      <p:pic>
        <p:nvPicPr>
          <p:cNvPr id="8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496ad0413465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34000" y="4264521"/>
            <a:ext cx="863600" cy="101600"/>
          </a:xfrm>
          <a:prstGeom xmlns:a="http://schemas.openxmlformats.org/drawingml/2006/main" prst="rect">
            <a:avLst/>
          </a:prstGeom>
        </p:spPr>
      </p:pic>
      <p:pic>
        <p:nvPicPr>
          <p:cNvPr id="86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cabbc3889435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74000" y="4264521"/>
            <a:ext cx="241300" cy="101600"/>
          </a:xfrm>
          <a:prstGeom xmlns:a="http://schemas.openxmlformats.org/drawingml/2006/main" prst="rect">
            <a:avLst/>
          </a:prstGeom>
        </p:spPr>
      </p:pic>
      <p:pic>
        <p:nvPicPr>
          <p:cNvPr id="87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bd895d3184fe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013700" y="3197721"/>
            <a:ext cx="101600" cy="2235200"/>
          </a:xfrm>
          <a:prstGeom xmlns:a="http://schemas.openxmlformats.org/drawingml/2006/main" prst="rect">
            <a:avLst/>
          </a:prstGeom>
        </p:spPr>
      </p:pic>
      <p:pic>
        <p:nvPicPr>
          <p:cNvPr id="88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c68e0735a46d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013700" y="3197721"/>
            <a:ext cx="241300" cy="101600"/>
          </a:xfrm>
          <a:prstGeom xmlns:a="http://schemas.openxmlformats.org/drawingml/2006/main" prst="rect">
            <a:avLst/>
          </a:prstGeom>
        </p:spPr>
      </p:pic>
      <p:pic>
        <p:nvPicPr>
          <p:cNvPr id="89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39cbc25c594a4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013700" y="3908921"/>
            <a:ext cx="241300" cy="101600"/>
          </a:xfrm>
          <a:prstGeom xmlns:a="http://schemas.openxmlformats.org/drawingml/2006/main" prst="rect">
            <a:avLst/>
          </a:prstGeom>
        </p:spPr>
      </p:pic>
      <p:pic>
        <p:nvPicPr>
          <p:cNvPr id="90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856f89a965494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013700" y="4620121"/>
            <a:ext cx="241300" cy="101600"/>
          </a:xfrm>
          <a:prstGeom xmlns:a="http://schemas.openxmlformats.org/drawingml/2006/main" prst="rect">
            <a:avLst/>
          </a:prstGeom>
        </p:spPr>
      </p:pic>
      <p:pic>
        <p:nvPicPr>
          <p:cNvPr id="91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dc09c3031438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013700" y="5331321"/>
            <a:ext cx="241300" cy="101600"/>
          </a:xfrm>
          <a:prstGeom xmlns:a="http://schemas.openxmlformats.org/drawingml/2006/main" prst="rect">
            <a:avLst/>
          </a:prstGeom>
        </p:spPr>
      </p:pic>
      <p:sp>
        <p:nvSpPr>
          <p:cNvPr id="40" name="Text 26">
            <a:extLst xmlns:a="http://schemas.openxmlformats.org/drawingml/2006/main">
              <a:ext uri="{FF2B5EF4-FFF2-40B4-BE49-F238E27FC236}">
                <a16:creationId xmlns:a16="http://schemas.microsoft.com/office/drawing/2014/main" id="{62F08E7C-9A72-4AB6-81CD-D3184200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238280"/>
            <a:ext cx="78486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Plectrum · Storybook for application teams</a:t>
            </a:r>
            <a:endParaRPr sz="1200"/>
          </a:p>
        </p:txBody>
      </p:sp>
      <p:sp>
        <p:nvSpPr>
          <p:cNvPr id="41" name="Text 27">
            <a:extLst xmlns:a="http://schemas.openxmlformats.org/drawingml/2006/main">
              <a:ext uri="{FF2B5EF4-FFF2-40B4-BE49-F238E27FC236}">
                <a16:creationId xmlns:a16="http://schemas.microsoft.com/office/drawing/2014/main" id="{60591D4D-77B9-495D-B53F-C4C95259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400" y="6238280"/>
            <a:ext cx="10668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13 / 16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3455585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3F215E8-69EE-47F6-BC6A-B76E45DE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12800"/>
            <a:ext cx="10883392" cy="2451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774"/>
              </a:lnSpc>
              <a:buNone/>
            </a:pPr>
            <a:r>
              <a:rPr sz="1268" b="1" spc="150">
                <a:solidFill>
                  <a:srgbClr val="333333"/>
                </a:solidFill>
                <a:latin typeface="Alegreya Sans"/>
                <a:ea typeface="Alegreya Sans"/>
                <a:cs typeface="Alegreya Sans"/>
              </a:rPr>
              <a:t>CONTRIBUTING — FROM A TEAM’S GAP TO CORE</a:t>
            </a:r>
            <a:endParaRPr sz="1268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A0A23B0-49BC-4F35-BC8D-E23B43B7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083370"/>
            <a:ext cx="10883392" cy="431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224"/>
              </a:lnSpc>
              <a:buNone/>
            </a:pPr>
            <a:r>
              <a:rPr sz="3070" b="1">
                <a:solidFill>
                  <a:srgbClr val="DA002F"/>
                </a:solidFill>
                <a:latin typeface="Alegreya Sans"/>
                <a:ea typeface="Alegreya Sans"/>
                <a:cs typeface="Alegreya Sans"/>
              </a:rPr>
              <a:t>Local delivery continues while Core reviews sharing</a:t>
            </a:r>
            <a:endParaRPr sz="307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785161E-711A-424C-A442-C8E39C6B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616273"/>
            <a:ext cx="10883392" cy="262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74"/>
              </a:lnSpc>
              <a:buNone/>
            </a:pPr>
            <a:r>
              <a:rPr sz="1339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From an app team </a:t>
            </a:r>
            <a:r>
              <a:rPr sz="1339" b="1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— built in your repository, yours until Core integrates it</a:t>
            </a:r>
            <a:endParaRPr sz="1339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753318E-B6FD-47F2-BC5C-62B6C5CC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8755"/>
            <a:ext cx="5168900" cy="518220"/>
          </a:xfrm>
          <a:prstGeom xmlns:a="http://schemas.openxmlformats.org/drawingml/2006/main" prst="roundRect">
            <a:avLst>
              <a:gd name="adj" fmla="val 15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F7D52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B18A1A4-208B-4D31-A82C-EFB9A3B5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" y="2068116"/>
            <a:ext cx="279400" cy="279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2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09D3709-B661-4533-BA1F-D1062CAF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60" y="2101155"/>
            <a:ext cx="14228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1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1C4EC71-771C-4B4A-85EF-F76F68DD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100" y="1985665"/>
            <a:ext cx="3611582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Discover · app team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3DFD2E3-C84E-48DC-B3A5-2945116A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100" y="2216745"/>
            <a:ext cx="3611582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9253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46464C"/>
                </a:solidFill>
                <a:latin typeface="Nunito Sans"/>
                <a:ea typeface="Nunito Sans"/>
                <a:cs typeface="Nunito Sans"/>
              </a:rPr>
              <a:t>Check PrimeNG and Core; record the application gap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C138B1F-BDB7-4825-9F3C-2CA30BBB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0475"/>
            <a:ext cx="5168900" cy="518220"/>
          </a:xfrm>
          <a:prstGeom xmlns:a="http://schemas.openxmlformats.org/drawingml/2006/main" prst="roundRect">
            <a:avLst>
              <a:gd name="adj" fmla="val 15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487395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189464F-DB28-4A14-B253-DFAD43DC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" y="2649835"/>
            <a:ext cx="279400" cy="279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739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5673594-7A65-4F7A-8F47-18FF60E2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60" y="2682875"/>
            <a:ext cx="14228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2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CA72E62-5FE1-42E4-BF1B-065AAA83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100" y="2567384"/>
            <a:ext cx="3221605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Build local · app team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742E6A5-72A3-4057-8F12-56043B81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100" y="2798465"/>
            <a:ext cx="3221605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9253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46464C"/>
                </a:solidFill>
                <a:latin typeface="Nunito Sans"/>
                <a:ea typeface="Nunito Sans"/>
                <a:cs typeface="Nunito Sans"/>
              </a:rPr>
              <a:t>Story, test, ITCSS and evidence in the app repo</a:t>
            </a:r>
            <a:endParaRPr sz="12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7F22331-FB6C-4080-A39C-78ADAB61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12195"/>
            <a:ext cx="5168900" cy="518220"/>
          </a:xfrm>
          <a:prstGeom xmlns:a="http://schemas.openxmlformats.org/drawingml/2006/main" prst="roundRect">
            <a:avLst>
              <a:gd name="adj" fmla="val 15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F7D52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5EDD257-874A-40ED-8779-3F5C956A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" y="3231555"/>
            <a:ext cx="279400" cy="279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2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5C2A260-8D77-4F8A-9313-0AC7C47D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60" y="3264595"/>
            <a:ext cx="14228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3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7B9EABE-087B-463C-934A-BAD83125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100" y="3149104"/>
            <a:ext cx="3420784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Request sharing · team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EF3353E-CFA3-41F2-8106-D1F08C7F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100" y="3380184"/>
            <a:ext cx="3420784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46464C"/>
                </a:solidFill>
                <a:latin typeface="Nunito Sans"/>
                <a:ea typeface="Nunito Sans"/>
                <a:cs typeface="Nunito Sans"/>
              </a:rPr>
              <a:t>Core decides on intake, not local delivery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E71703E-C4C8-49D0-94DC-C5245A4D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3914"/>
            <a:ext cx="5168900" cy="518220"/>
          </a:xfrm>
          <a:prstGeom xmlns:a="http://schemas.openxmlformats.org/drawingml/2006/main" prst="roundRect">
            <a:avLst>
              <a:gd name="adj" fmla="val 15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F7D52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C9A11F33-0776-4AF9-B66B-2CFFD1DA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" y="3813274"/>
            <a:ext cx="279400" cy="279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2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EEBE1D9-6E39-4590-8409-CBDB7B45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60" y="3846314"/>
            <a:ext cx="14228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4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3317C8D-37A0-4CDA-B577-E4D6F6AE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100" y="3730823"/>
            <a:ext cx="3255227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Submit </a:t>
            </a:r>
            <a:r>
              <a:rPr sz="1300" b="1">
                <a:solidFill>
                  <a:srgbClr val="1F5A3A"/>
                </a:solidFill>
                <a:latin typeface="Nunito Sans"/>
                <a:ea typeface="Nunito Sans"/>
                <a:cs typeface="Nunito Sans"/>
              </a:rPr>
              <a:t>· app team</a:t>
            </a:r>
            <a:endParaRPr sz="13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F327CB6-85B1-4051-843C-F60378C5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100" y="3961904"/>
            <a:ext cx="3255227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46464C"/>
                </a:solidFill>
                <a:latin typeface="Nunito Sans"/>
                <a:ea typeface="Nunito Sans"/>
                <a:cs typeface="Nunito Sans"/>
              </a:rPr>
              <a:t>After approval: preview + CI for one revision</a:t>
            </a:r>
            <a:endParaRPr sz="12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DFC1EB7-6991-4871-95F8-A1D7EF25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3950" y="1948755"/>
            <a:ext cx="5168900" cy="518220"/>
          </a:xfrm>
          <a:prstGeom xmlns:a="http://schemas.openxmlformats.org/drawingml/2006/main" prst="roundRect">
            <a:avLst>
              <a:gd name="adj" fmla="val 15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487395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C07F1732-5AC9-4C65-BE02-7DA0A68F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2068116"/>
            <a:ext cx="279400" cy="279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739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16974A6-9508-4315-86E7-2E72D8C9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60" y="2101155"/>
            <a:ext cx="14228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5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F6147AC-D906-4589-9B92-2C4354F2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1985665"/>
            <a:ext cx="3940651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Integrate </a:t>
            </a:r>
            <a:r>
              <a:rPr sz="1300" b="1">
                <a:solidFill>
                  <a:srgbClr val="2E526D"/>
                </a:solidFill>
                <a:latin typeface="Nunito Sans"/>
                <a:ea typeface="Nunito Sans"/>
                <a:cs typeface="Nunito Sans"/>
              </a:rPr>
              <a:t>· Core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5FCEDA5-D7E3-4D75-9F90-0E438095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2216745"/>
            <a:ext cx="3940651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46464C"/>
                </a:solidFill>
                <a:latin typeface="Nunito Sans"/>
                <a:ea typeface="Nunito Sans"/>
                <a:cs typeface="Nunito Sans"/>
              </a:rPr>
              <a:t>Core generalises it into the packages — never automatic</a:t>
            </a:r>
            <a:endParaRPr sz="12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FC1A0C8-761D-4BA7-AD92-C7BF84C7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3950" y="2530475"/>
            <a:ext cx="5168900" cy="518220"/>
          </a:xfrm>
          <a:prstGeom xmlns:a="http://schemas.openxmlformats.org/drawingml/2006/main" prst="roundRect">
            <a:avLst>
              <a:gd name="adj" fmla="val 15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680F"/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9E0944E-C9F8-48F7-B0AD-035A1927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2649835"/>
            <a:ext cx="279400" cy="279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0680F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CB8FA517-60DF-4C00-9D17-F8DF6666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60" y="2682875"/>
            <a:ext cx="14228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6</a:t>
            </a:r>
            <a:endParaRPr sz="12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9C84C09-B7F4-4DCB-82DE-6C3D2B05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2567384"/>
            <a:ext cx="2903369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Update Figma </a:t>
            </a:r>
            <a:r>
              <a:rPr sz="1300" b="1">
                <a:solidFill>
                  <a:srgbClr val="8F4508"/>
                </a:solidFill>
                <a:latin typeface="Nunito Sans"/>
                <a:ea typeface="Nunito Sans"/>
                <a:cs typeface="Nunito Sans"/>
              </a:rPr>
              <a:t>· designer</a:t>
            </a:r>
            <a:endParaRPr sz="13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D47EDCC0-5A65-406B-A315-D7909386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2798465"/>
            <a:ext cx="2903369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46464C"/>
                </a:solidFill>
                <a:latin typeface="Nunito Sans"/>
                <a:ea typeface="Nunito Sans"/>
                <a:cs typeface="Nunito Sans"/>
              </a:rPr>
              <a:t>Added to the Custom components library</a:t>
            </a:r>
            <a:endParaRPr sz="120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2C746751-C87D-4E30-8D1D-2E25A86A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3950" y="3112195"/>
            <a:ext cx="5168900" cy="518220"/>
          </a:xfrm>
          <a:prstGeom xmlns:a="http://schemas.openxmlformats.org/drawingml/2006/main" prst="roundRect">
            <a:avLst>
              <a:gd name="adj" fmla="val 15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838C"/>
            </a:solidFill>
            <a:prstDash val="solid"/>
          </a:ln>
        </p:spPr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EE7B0D4E-E9F7-47D0-9EC9-23FD1863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3231555"/>
            <a:ext cx="279400" cy="279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838C"/>
          </a:solidFill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36E1F9E-A278-40EB-A922-8F39D0FA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60" y="3264595"/>
            <a:ext cx="14228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7</a:t>
            </a:r>
            <a:endParaRPr sz="12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903E23FD-CBA6-4682-9048-1809AF51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3149104"/>
            <a:ext cx="3123191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Release </a:t>
            </a:r>
            <a:r>
              <a:rPr sz="1300" b="1">
                <a:solidFill>
                  <a:srgbClr val="4A535B"/>
                </a:solidFill>
                <a:latin typeface="Nunito Sans"/>
                <a:ea typeface="Nunito Sans"/>
                <a:cs typeface="Nunito Sans"/>
              </a:rPr>
              <a:t>· maintainer</a:t>
            </a:r>
            <a:endParaRPr sz="13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B91718F-2117-4987-AFC4-B4649E7D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3380184"/>
            <a:ext cx="3123191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46464C"/>
                </a:solidFill>
                <a:latin typeface="Nunito Sans"/>
                <a:ea typeface="Nunito Sans"/>
                <a:cs typeface="Nunito Sans"/>
              </a:rPr>
              <a:t>New package version + versioned Storybook</a:t>
            </a:r>
            <a:endParaRPr sz="120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976D8E79-670F-4651-AA5D-DB693473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3950" y="3693914"/>
            <a:ext cx="5168900" cy="518220"/>
          </a:xfrm>
          <a:prstGeom xmlns:a="http://schemas.openxmlformats.org/drawingml/2006/main" prst="roundRect">
            <a:avLst>
              <a:gd name="adj" fmla="val 15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F7D52"/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3BD78557-DE79-4FF8-9E81-05CEB7DC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3813274"/>
            <a:ext cx="279400" cy="279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2"/>
          </a:solidFill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47C6BAFD-338A-4E4B-8314-25AD06CC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60" y="3846314"/>
            <a:ext cx="14228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FFFFF"/>
                </a:solidFill>
                <a:latin typeface="Nunito Sans"/>
                <a:ea typeface="Nunito Sans"/>
                <a:cs typeface="Nunito Sans"/>
              </a:rPr>
              <a:t>8</a:t>
            </a:r>
            <a:endParaRPr sz="12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CD2BF0B3-B062-42C5-BB6A-6525F75C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3730823"/>
            <a:ext cx="3475765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Adopt </a:t>
            </a:r>
            <a:r>
              <a:rPr sz="1300" b="1">
                <a:solidFill>
                  <a:srgbClr val="1F5A3A"/>
                </a:solidFill>
                <a:latin typeface="Nunito Sans"/>
                <a:ea typeface="Nunito Sans"/>
                <a:cs typeface="Nunito Sans"/>
              </a:rPr>
              <a:t>· app team</a:t>
            </a:r>
            <a:endParaRPr sz="13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CF20246-FC31-4C66-B0DE-8BB62CE4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3961904"/>
            <a:ext cx="3475765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46464C"/>
                </a:solidFill>
                <a:latin typeface="Nunito Sans"/>
                <a:ea typeface="Nunito Sans"/>
                <a:cs typeface="Nunito Sans"/>
              </a:rPr>
              <a:t>Upgrade, delete your local copy, use the Core one</a:t>
            </a:r>
            <a:endParaRPr sz="120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66870D1A-D081-428E-BA19-17EB5BEE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345484"/>
            <a:ext cx="10883392" cy="2619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74"/>
              </a:lnSpc>
              <a:buNone/>
            </a:pPr>
            <a:r>
              <a:rPr sz="1339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From the design team </a:t>
            </a:r>
            <a:r>
              <a:rPr sz="1339" b="1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— starts in Figma, built by Core</a:t>
            </a:r>
            <a:endParaRPr sz="1339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DACB768D-F451-436F-B97B-7AE5C41A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77271"/>
            <a:ext cx="1866900" cy="590550"/>
          </a:xfrm>
          <a:prstGeom xmlns:a="http://schemas.openxmlformats.org/drawingml/2006/main" prst="roundRect">
            <a:avLst>
              <a:gd name="adj" fmla="val 13978"/>
            </a:avLst>
          </a:prstGeom>
          <a:solidFill xmlns:a="http://schemas.openxmlformats.org/drawingml/2006/main">
            <a:srgbClr val="FCEEDF"/>
          </a:solidFill>
          <a:ln xmlns:a="http://schemas.openxmlformats.org/drawingml/2006/main" w="12700">
            <a:solidFill>
              <a:srgbClr val="D0680F"/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ADD17E6E-6BAA-48A4-8E12-3EE59A64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" y="4759821"/>
            <a:ext cx="1701800" cy="2400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723"/>
              </a:lnSpc>
              <a:buNone/>
            </a:pPr>
            <a:r>
              <a:rPr sz="1231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Propose </a:t>
            </a:r>
            <a:r>
              <a:rPr sz="1231" b="1">
                <a:solidFill>
                  <a:srgbClr val="8F4508"/>
                </a:solidFill>
                <a:latin typeface="Nunito Sans"/>
                <a:ea typeface="Nunito Sans"/>
                <a:cs typeface="Nunito Sans"/>
              </a:rPr>
              <a:t>· designer</a:t>
            </a:r>
            <a:endParaRPr sz="1231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A2002A84-1EF4-426A-A85E-717CFF2E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" y="4987131"/>
            <a:ext cx="1701800" cy="22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570"/>
              </a:lnSpc>
              <a:buNone/>
            </a:pPr>
            <a:r>
              <a:rPr sz="1121">
                <a:solidFill>
                  <a:srgbClr val="46464C"/>
                </a:solidFill>
                <a:latin typeface="Nunito Sans"/>
                <a:ea typeface="Nunito Sans"/>
                <a:cs typeface="Nunito Sans"/>
              </a:rPr>
              <a:t>GitHub issue + Figma</a:t>
            </a:r>
            <a:endParaRPr sz="1121"/>
          </a:p>
        </p:txBody>
      </p:sp>
      <p:pic>
        <p:nvPicPr>
          <p:cNvPr id="1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e7d5f96cf460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743200" y="4921746"/>
            <a:ext cx="177800" cy="101600"/>
          </a:xfrm>
          <a:prstGeom xmlns:a="http://schemas.openxmlformats.org/drawingml/2006/main" prst="rect">
            <a:avLst/>
          </a:prstGeom>
        </p:spPr>
      </p:pic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86559ECE-C3F8-4D35-8638-420AAC75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8150" y="4677271"/>
            <a:ext cx="1866900" cy="590550"/>
          </a:xfrm>
          <a:prstGeom xmlns:a="http://schemas.openxmlformats.org/drawingml/2006/main" prst="roundRect">
            <a:avLst>
              <a:gd name="adj" fmla="val 13978"/>
            </a:avLst>
          </a:prstGeom>
          <a:solidFill xmlns:a="http://schemas.openxmlformats.org/drawingml/2006/main">
            <a:srgbClr val="E3ECF3"/>
          </a:solidFill>
          <a:ln xmlns:a="http://schemas.openxmlformats.org/drawingml/2006/main" w="12700">
            <a:solidFill>
              <a:srgbClr val="487395"/>
            </a:solidFill>
            <a:prstDash val="solid"/>
          </a:ln>
        </p:spPr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8E1BCDD9-D7C6-4C71-A463-220A9ACB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59821"/>
            <a:ext cx="1701800" cy="2400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723"/>
              </a:lnSpc>
              <a:buNone/>
            </a:pPr>
            <a:r>
              <a:rPr sz="1231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Decide </a:t>
            </a:r>
            <a:r>
              <a:rPr sz="1231" b="1">
                <a:solidFill>
                  <a:srgbClr val="2E526D"/>
                </a:solidFill>
                <a:latin typeface="Nunito Sans"/>
                <a:ea typeface="Nunito Sans"/>
                <a:cs typeface="Nunito Sans"/>
              </a:rPr>
              <a:t>· Core</a:t>
            </a:r>
            <a:endParaRPr sz="1231"/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F5E4EB30-C31F-4569-9899-70C5038B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987131"/>
            <a:ext cx="1701800" cy="22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570"/>
              </a:lnSpc>
              <a:buNone/>
            </a:pPr>
            <a:r>
              <a:rPr sz="1121">
                <a:solidFill>
                  <a:srgbClr val="46464C"/>
                </a:solidFill>
                <a:latin typeface="Nunito Sans"/>
                <a:ea typeface="Nunito Sans"/>
                <a:cs typeface="Nunito Sans"/>
              </a:rPr>
              <a:t>reuse checked first</a:t>
            </a:r>
            <a:endParaRPr sz="1121"/>
          </a:p>
        </p:txBody>
      </p:sp>
      <p:pic>
        <p:nvPicPr>
          <p:cNvPr id="12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585c6b39b43f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02200" y="4921746"/>
            <a:ext cx="177800" cy="101600"/>
          </a:xfrm>
          <a:prstGeom xmlns:a="http://schemas.openxmlformats.org/drawingml/2006/main" prst="rect">
            <a:avLst/>
          </a:prstGeom>
        </p:spPr>
      </p:pic>
      <p:sp>
        <p:nvSpPr>
          <p:cNvPr id="54" name="Shape 50">
            <a:extLst xmlns:a="http://schemas.openxmlformats.org/drawingml/2006/main">
              <a:ext uri="{FF2B5EF4-FFF2-40B4-BE49-F238E27FC236}">
                <a16:creationId xmlns:a16="http://schemas.microsoft.com/office/drawing/2014/main" id="{A7FD6B5D-70E8-4E34-B6AB-23A54909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50" y="4677271"/>
            <a:ext cx="1866900" cy="590550"/>
          </a:xfrm>
          <a:prstGeom xmlns:a="http://schemas.openxmlformats.org/drawingml/2006/main" prst="roundRect">
            <a:avLst>
              <a:gd name="adj" fmla="val 13978"/>
            </a:avLst>
          </a:prstGeom>
          <a:solidFill xmlns:a="http://schemas.openxmlformats.org/drawingml/2006/main">
            <a:srgbClr val="FCEEDF"/>
          </a:solidFill>
          <a:ln xmlns:a="http://schemas.openxmlformats.org/drawingml/2006/main" w="12700">
            <a:solidFill>
              <a:srgbClr val="D0680F"/>
            </a:solidFill>
            <a:prstDash val="solid"/>
          </a:ln>
        </p:spPr>
      </p:sp>
      <p:sp>
        <p:nvSpPr>
          <p:cNvPr id="55" name="Text 51">
            <a:extLst xmlns:a="http://schemas.openxmlformats.org/drawingml/2006/main">
              <a:ext uri="{FF2B5EF4-FFF2-40B4-BE49-F238E27FC236}">
                <a16:creationId xmlns:a16="http://schemas.microsoft.com/office/drawing/2014/main" id="{35C2D767-25F7-4479-86D3-435A0818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100" y="4759821"/>
            <a:ext cx="1701800" cy="2400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723"/>
              </a:lnSpc>
              <a:buNone/>
            </a:pPr>
            <a:r>
              <a:rPr sz="1231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Publish </a:t>
            </a:r>
            <a:r>
              <a:rPr sz="1231" b="1">
                <a:solidFill>
                  <a:srgbClr val="8F4508"/>
                </a:solidFill>
                <a:latin typeface="Nunito Sans"/>
                <a:ea typeface="Nunito Sans"/>
                <a:cs typeface="Nunito Sans"/>
              </a:rPr>
              <a:t>· designer</a:t>
            </a:r>
            <a:endParaRPr sz="1231"/>
          </a:p>
        </p:txBody>
      </p:sp>
      <p:sp>
        <p:nvSpPr>
          <p:cNvPr id="56" name="Text 52">
            <a:extLst xmlns:a="http://schemas.openxmlformats.org/drawingml/2006/main">
              <a:ext uri="{FF2B5EF4-FFF2-40B4-BE49-F238E27FC236}">
                <a16:creationId xmlns:a16="http://schemas.microsoft.com/office/drawing/2014/main" id="{D77732A2-DCA4-492F-9BAA-C665E7DA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100" y="4987131"/>
            <a:ext cx="1701800" cy="22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570"/>
              </a:lnSpc>
              <a:buNone/>
            </a:pPr>
            <a:r>
              <a:rPr sz="1121">
                <a:solidFill>
                  <a:srgbClr val="46464C"/>
                </a:solidFill>
                <a:latin typeface="Nunito Sans"/>
                <a:ea typeface="Nunito Sans"/>
                <a:cs typeface="Nunito Sans"/>
              </a:rPr>
              <a:t>in the Figma library</a:t>
            </a:r>
            <a:endParaRPr sz="1121"/>
          </a:p>
        </p:txBody>
      </p:sp>
      <p:pic>
        <p:nvPicPr>
          <p:cNvPr id="13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cc4e2d75f64f5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061200" y="4921746"/>
            <a:ext cx="177800" cy="101600"/>
          </a:xfrm>
          <a:prstGeom xmlns:a="http://schemas.openxmlformats.org/drawingml/2006/main" prst="rect">
            <a:avLst/>
          </a:prstGeom>
        </p:spPr>
      </p:pic>
      <p:sp>
        <p:nvSpPr>
          <p:cNvPr id="58" name="Shape 53">
            <a:extLst xmlns:a="http://schemas.openxmlformats.org/drawingml/2006/main">
              <a:ext uri="{FF2B5EF4-FFF2-40B4-BE49-F238E27FC236}">
                <a16:creationId xmlns:a16="http://schemas.microsoft.com/office/drawing/2014/main" id="{04FD9572-09F3-4311-8966-C02A3E43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677271"/>
            <a:ext cx="1866900" cy="590550"/>
          </a:xfrm>
          <a:prstGeom xmlns:a="http://schemas.openxmlformats.org/drawingml/2006/main" prst="roundRect">
            <a:avLst>
              <a:gd name="adj" fmla="val 13978"/>
            </a:avLst>
          </a:prstGeom>
          <a:solidFill xmlns:a="http://schemas.openxmlformats.org/drawingml/2006/main">
            <a:srgbClr val="E3ECF3"/>
          </a:solidFill>
          <a:ln xmlns:a="http://schemas.openxmlformats.org/drawingml/2006/main" w="12700">
            <a:solidFill>
              <a:srgbClr val="487395"/>
            </a:solidFill>
            <a:prstDash val="solid"/>
          </a:ln>
        </p:spPr>
      </p:sp>
      <p:sp>
        <p:nvSpPr>
          <p:cNvPr id="59" name="Text 54">
            <a:extLst xmlns:a="http://schemas.openxmlformats.org/drawingml/2006/main">
              <a:ext uri="{FF2B5EF4-FFF2-40B4-BE49-F238E27FC236}">
                <a16:creationId xmlns:a16="http://schemas.microsoft.com/office/drawing/2014/main" id="{E59300DE-2067-49E0-9C14-BB71D3C8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100" y="4759821"/>
            <a:ext cx="1701800" cy="2400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723"/>
              </a:lnSpc>
              <a:buNone/>
            </a:pPr>
            <a:r>
              <a:rPr sz="1231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Build </a:t>
            </a:r>
            <a:r>
              <a:rPr sz="1231" b="1">
                <a:solidFill>
                  <a:srgbClr val="2E526D"/>
                </a:solidFill>
                <a:latin typeface="Nunito Sans"/>
                <a:ea typeface="Nunito Sans"/>
                <a:cs typeface="Nunito Sans"/>
              </a:rPr>
              <a:t>· Core</a:t>
            </a:r>
            <a:endParaRPr sz="1231"/>
          </a:p>
        </p:txBody>
      </p:sp>
      <p:sp>
        <p:nvSpPr>
          <p:cNvPr id="60" name="Text 55">
            <a:extLst xmlns:a="http://schemas.openxmlformats.org/drawingml/2006/main">
              <a:ext uri="{FF2B5EF4-FFF2-40B4-BE49-F238E27FC236}">
                <a16:creationId xmlns:a16="http://schemas.microsoft.com/office/drawing/2014/main" id="{ADAEAC94-A53C-48BC-B9B4-5F1387CA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4100" y="4987131"/>
            <a:ext cx="1701800" cy="22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570"/>
              </a:lnSpc>
              <a:buNone/>
            </a:pPr>
            <a:r>
              <a:rPr sz="1121">
                <a:solidFill>
                  <a:srgbClr val="46464C"/>
                </a:solidFill>
                <a:latin typeface="Nunito Sans"/>
                <a:ea typeface="Nunito Sans"/>
                <a:cs typeface="Nunito Sans"/>
              </a:rPr>
              <a:t>in the Plectrum repo</a:t>
            </a:r>
            <a:endParaRPr sz="1121"/>
          </a:p>
        </p:txBody>
      </p:sp>
      <p:pic>
        <p:nvPicPr>
          <p:cNvPr id="13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60cc80822442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220200" y="4921746"/>
            <a:ext cx="177800" cy="101600"/>
          </a:xfrm>
          <a:prstGeom xmlns:a="http://schemas.openxmlformats.org/drawingml/2006/main" prst="rect">
            <a:avLst/>
          </a:prstGeom>
        </p:spPr>
      </p:pic>
      <p:sp>
        <p:nvSpPr>
          <p:cNvPr id="62" name="Shape 56">
            <a:extLst xmlns:a="http://schemas.openxmlformats.org/drawingml/2006/main">
              <a:ext uri="{FF2B5EF4-FFF2-40B4-BE49-F238E27FC236}">
                <a16:creationId xmlns:a16="http://schemas.microsoft.com/office/drawing/2014/main" id="{C3A371B2-8D6B-48FE-B9E4-EE32E4C3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150" y="4677271"/>
            <a:ext cx="1866900" cy="590550"/>
          </a:xfrm>
          <a:prstGeom xmlns:a="http://schemas.openxmlformats.org/drawingml/2006/main" prst="roundRect">
            <a:avLst>
              <a:gd name="adj" fmla="val 13978"/>
            </a:avLst>
          </a:prstGeom>
          <a:solidFill xmlns:a="http://schemas.openxmlformats.org/drawingml/2006/main">
            <a:srgbClr val="ECEEEF"/>
          </a:solidFill>
          <a:ln xmlns:a="http://schemas.openxmlformats.org/drawingml/2006/main" w="12700">
            <a:solidFill>
              <a:srgbClr val="7A838C"/>
            </a:solidFill>
            <a:prstDash val="solid"/>
          </a:ln>
        </p:spPr>
      </p:sp>
      <p:sp>
        <p:nvSpPr>
          <p:cNvPr id="63" name="Text 57">
            <a:extLst xmlns:a="http://schemas.openxmlformats.org/drawingml/2006/main">
              <a:ext uri="{FF2B5EF4-FFF2-40B4-BE49-F238E27FC236}">
                <a16:creationId xmlns:a16="http://schemas.microsoft.com/office/drawing/2014/main" id="{7492AE06-593D-4E71-94B2-8ED70884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759821"/>
            <a:ext cx="1701800" cy="2400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723"/>
              </a:lnSpc>
              <a:buNone/>
            </a:pPr>
            <a:r>
              <a:rPr sz="1231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Release </a:t>
            </a:r>
            <a:r>
              <a:rPr sz="1231" b="1">
                <a:solidFill>
                  <a:srgbClr val="4A535B"/>
                </a:solidFill>
                <a:latin typeface="Nunito Sans"/>
                <a:ea typeface="Nunito Sans"/>
                <a:cs typeface="Nunito Sans"/>
              </a:rPr>
              <a:t>· maintainer</a:t>
            </a:r>
            <a:endParaRPr sz="1231"/>
          </a:p>
        </p:txBody>
      </p:sp>
      <p:sp>
        <p:nvSpPr>
          <p:cNvPr id="64" name="Text 58">
            <a:extLst xmlns:a="http://schemas.openxmlformats.org/drawingml/2006/main">
              <a:ext uri="{FF2B5EF4-FFF2-40B4-BE49-F238E27FC236}">
                <a16:creationId xmlns:a16="http://schemas.microsoft.com/office/drawing/2014/main" id="{FAC9EE54-F9B2-4D9E-91AB-798B93AE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987131"/>
            <a:ext cx="1701800" cy="223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570"/>
              </a:lnSpc>
              <a:buNone/>
            </a:pPr>
            <a:r>
              <a:rPr sz="1121">
                <a:solidFill>
                  <a:srgbClr val="46464C"/>
                </a:solidFill>
                <a:latin typeface="Nunito Sans"/>
                <a:ea typeface="Nunito Sans"/>
                <a:cs typeface="Nunito Sans"/>
              </a:rPr>
              <a:t>packages + Storybook</a:t>
            </a:r>
            <a:endParaRPr sz="1121"/>
          </a:p>
        </p:txBody>
      </p:sp>
      <p:sp>
        <p:nvSpPr>
          <p:cNvPr id="65" name="Shape 59">
            <a:extLst xmlns:a="http://schemas.openxmlformats.org/drawingml/2006/main">
              <a:ext uri="{FF2B5EF4-FFF2-40B4-BE49-F238E27FC236}">
                <a16:creationId xmlns:a16="http://schemas.microsoft.com/office/drawing/2014/main" id="{3BD5BF5E-48EC-4731-9E6D-EC012F35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401171"/>
            <a:ext cx="10566400" cy="440829"/>
          </a:xfrm>
          <a:prstGeom xmlns:a="http://schemas.openxmlformats.org/drawingml/2006/main" prst="roundRect">
            <a:avLst>
              <a:gd name="adj" fmla="val 23047"/>
            </a:avLst>
          </a:prstGeom>
          <a:solidFill xmlns:a="http://schemas.openxmlformats.org/drawingml/2006/main">
            <a:srgbClr val="2B2B2E"/>
          </a:solidFill>
        </p:spPr>
      </p:sp>
      <p:pic>
        <p:nvPicPr>
          <p:cNvPr id="13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3ad0b3f7c446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90600" y="5507236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67" name="Text 60">
            <a:extLst xmlns:a="http://schemas.openxmlformats.org/drawingml/2006/main">
              <a:ext uri="{FF2B5EF4-FFF2-40B4-BE49-F238E27FC236}">
                <a16:creationId xmlns:a16="http://schemas.microsoft.com/office/drawing/2014/main" id="{AFF492A3-79CC-4D74-B789-311F3029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100" y="5497215"/>
            <a:ext cx="7690402" cy="2742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960"/>
              </a:lnSpc>
              <a:buNone/>
            </a:pPr>
            <a:r>
              <a:rPr sz="1400" b="1">
                <a:solidFill>
                  <a:srgbClr val="FF8FA3"/>
                </a:solidFill>
                <a:latin typeface="Nunito Sans"/>
                <a:ea typeface="Nunito Sans"/>
                <a:cs typeface="Nunito Sans"/>
              </a:rPr>
              <a:t>Ask for early guidance; local work does not wait for a Core decision.</a:t>
            </a:r>
            <a:endParaRPr sz="1400"/>
          </a:p>
        </p:txBody>
      </p:sp>
      <p:sp>
        <p:nvSpPr>
          <p:cNvPr id="68" name="Text 61">
            <a:extLst xmlns:a="http://schemas.openxmlformats.org/drawingml/2006/main">
              <a:ext uri="{FF2B5EF4-FFF2-40B4-BE49-F238E27FC236}">
                <a16:creationId xmlns:a16="http://schemas.microsoft.com/office/drawing/2014/main" id="{62D7E8CC-6D80-492E-B7B9-4FF52A2B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238280"/>
            <a:ext cx="78486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Plectrum · Storybook for application teams</a:t>
            </a:r>
            <a:endParaRPr sz="1200"/>
          </a:p>
        </p:txBody>
      </p:sp>
      <p:sp>
        <p:nvSpPr>
          <p:cNvPr id="69" name="Text 62">
            <a:extLst xmlns:a="http://schemas.openxmlformats.org/drawingml/2006/main">
              <a:ext uri="{FF2B5EF4-FFF2-40B4-BE49-F238E27FC236}">
                <a16:creationId xmlns:a16="http://schemas.microsoft.com/office/drawing/2014/main" id="{61F47058-DBD6-48B5-AEAE-0D1A7001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400" y="6238280"/>
            <a:ext cx="10668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14 / 16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422084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D8CED8A-EE54-4A98-AEA6-42B6F54A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812800"/>
            <a:ext cx="10883392" cy="256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20"/>
              </a:lnSpc>
              <a:buNone/>
            </a:pPr>
            <a:r>
              <a:rPr sz="1300" b="1" spc="150">
                <a:solidFill>
                  <a:srgbClr val="333333"/>
                </a:solidFill>
                <a:latin typeface="Alegreya Sans"/>
                <a:ea typeface="Alegreya Sans"/>
                <a:cs typeface="Alegreya Sans"/>
              </a:rPr>
              <a:t>BENEFITS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FE02445-14E2-4402-BEED-C1DED81F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094680"/>
            <a:ext cx="10883392" cy="4520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60"/>
              </a:lnSpc>
              <a:buNone/>
            </a:pPr>
            <a:r>
              <a:rPr sz="3200" b="1">
                <a:solidFill>
                  <a:srgbClr val="DA002F"/>
                </a:solidFill>
                <a:latin typeface="Alegreya Sans"/>
                <a:ea typeface="Alegreya Sans"/>
                <a:cs typeface="Alegreya Sans"/>
              </a:rPr>
              <a:t>The full process reduces repeated work</a:t>
            </a:r>
            <a:endParaRPr sz="3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6851298-3648-4DA2-B799-D3DA3276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487116"/>
            <a:ext cx="1056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BD3D9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E22B3A3-BE58-4CCC-8ECA-39370478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813421"/>
            <a:ext cx="719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00"/>
              </a:lnSpc>
              <a:buNone/>
            </a:pPr>
            <a:r>
              <a:rPr sz="20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Less duplicate maintenance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E03E6A3-84A2-4C01-941F-20F92A85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181721"/>
            <a:ext cx="719455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thanks to </a:t>
            </a:r>
            <a:r>
              <a:rPr sz="1200" b="1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shared sources</a:t>
            </a:r>
            <a:endParaRPr sz="12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FBBD9C9-87D0-4827-A514-B5498C27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2196" y="1959471"/>
            <a:ext cx="555724" cy="2895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ECF3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491286F-723B-4B59-A620-B79660A2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496" y="1997571"/>
            <a:ext cx="377924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2E526D"/>
                </a:solidFill>
                <a:latin typeface="Nunito Sans"/>
                <a:ea typeface="Nunito Sans"/>
                <a:cs typeface="Nunito Sans"/>
              </a:rPr>
              <a:t>Core</a:t>
            </a:r>
            <a:endParaRPr sz="12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271E90B-5ED5-4D3C-A090-A01BC4BE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1420" y="1959471"/>
            <a:ext cx="967780" cy="2895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F1E7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A8A8905-282B-4888-9539-5A67A6CE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720" y="1997571"/>
            <a:ext cx="78998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1F5A3A"/>
                </a:solidFill>
                <a:latin typeface="Nunito Sans"/>
                <a:ea typeface="Nunito Sans"/>
                <a:cs typeface="Nunito Sans"/>
              </a:rPr>
              <a:t>app teams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C3211D3-1B9E-4745-8EEA-BC97592D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252887"/>
            <a:ext cx="1056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BD3D9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EA6D77D-362E-484C-8237-B15BA466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579191"/>
            <a:ext cx="719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00"/>
              </a:lnSpc>
              <a:buNone/>
            </a:pPr>
            <a:r>
              <a:rPr sz="20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Fewer local variants</a:t>
            </a:r>
            <a:endParaRPr sz="2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9FCA949-5370-4B18-AE30-8FD1C2E7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947491"/>
            <a:ext cx="719455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thanks to </a:t>
            </a:r>
            <a:r>
              <a:rPr sz="1200" b="1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reuse + contracts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8B0FD45-28F1-415B-9274-A013ACA6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096" y="2725241"/>
            <a:ext cx="967780" cy="2895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F1E7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45091A2-0A21-4D8D-ADB8-C8DBFC87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4396" y="2763341"/>
            <a:ext cx="78998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1F5A3A"/>
                </a:solidFill>
                <a:latin typeface="Nunito Sans"/>
                <a:ea typeface="Nunito Sans"/>
                <a:cs typeface="Nunito Sans"/>
              </a:rPr>
              <a:t>app teams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605B231-DEAB-4985-BD47-633AA2E6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1376" y="2725241"/>
            <a:ext cx="847824" cy="2895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F1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C701432-9744-477E-8704-AD05E39E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676" y="2763341"/>
            <a:ext cx="670024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B0002A"/>
                </a:solidFill>
                <a:latin typeface="Nunito Sans"/>
                <a:ea typeface="Nunito Sans"/>
                <a:cs typeface="Nunito Sans"/>
              </a:rPr>
              <a:t>Solidaris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05F2E7D-7F5A-4A6D-8E9E-1841E2C0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018657"/>
            <a:ext cx="1056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BD3D9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DE6915D-5E45-4514-9C53-37902FA6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344962"/>
            <a:ext cx="719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00"/>
              </a:lnSpc>
              <a:buNone/>
            </a:pPr>
            <a:r>
              <a:rPr sz="20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Earlier feedback on changes</a:t>
            </a:r>
            <a:endParaRPr sz="2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5F0178D-BEA0-4D27-B404-02EF2AC0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3713262"/>
            <a:ext cx="719455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thanks to </a:t>
            </a:r>
            <a:r>
              <a:rPr sz="1200" b="1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stories + CI + review</a:t>
            </a:r>
            <a:endParaRPr sz="12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01EB9BD-BCA9-4D57-BD8A-918067C9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810" y="3491012"/>
            <a:ext cx="967780" cy="2895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F1E7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F1A92AB-B3D6-48FD-9849-A3B4EBCF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110" y="3529112"/>
            <a:ext cx="78998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1F5A3A"/>
                </a:solidFill>
                <a:latin typeface="Nunito Sans"/>
                <a:ea typeface="Nunito Sans"/>
                <a:cs typeface="Nunito Sans"/>
              </a:rPr>
              <a:t>app teams</a:t>
            </a:r>
            <a:endParaRPr sz="12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FB9DD47-CB0C-4327-9699-5FC7CDE4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090" y="3491012"/>
            <a:ext cx="913110" cy="2895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EDF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C4514E4-EE3E-4AD2-AE16-2668713F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0390" y="3529112"/>
            <a:ext cx="73531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8F4508"/>
                </a:solidFill>
                <a:latin typeface="Nunito Sans"/>
                <a:ea typeface="Nunito Sans"/>
                <a:cs typeface="Nunito Sans"/>
              </a:rPr>
              <a:t>designers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2E6B50C-3CE3-433B-BC7B-EC5FA1D3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110732"/>
            <a:ext cx="71945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00"/>
              </a:lnSpc>
              <a:buNone/>
            </a:pPr>
            <a:r>
              <a:rPr sz="2000" b="1">
                <a:solidFill>
                  <a:srgbClr val="2B2B2E"/>
                </a:solidFill>
                <a:latin typeface="Nunito Sans"/>
                <a:ea typeface="Nunito Sans"/>
                <a:cs typeface="Nunito Sans"/>
              </a:rPr>
              <a:t>Repeatable adoption across teams</a:t>
            </a:r>
            <a:endParaRPr sz="20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A8C331C-9C9D-4539-BE20-0C3A752E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4479032"/>
            <a:ext cx="719455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thanks to </a:t>
            </a:r>
            <a:r>
              <a:rPr sz="1200" b="1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versioned delivery</a:t>
            </a:r>
            <a:endParaRPr sz="12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F7F4FDDD-CA41-427C-ACEE-85DD84BE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5766" y="4256782"/>
            <a:ext cx="847824" cy="2895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F1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8DB8D6D-7B02-4CAD-BADE-00348FFD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0066" y="4294882"/>
            <a:ext cx="670024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B0002A"/>
                </a:solidFill>
                <a:latin typeface="Nunito Sans"/>
                <a:ea typeface="Nunito Sans"/>
                <a:cs typeface="Nunito Sans"/>
              </a:rPr>
              <a:t>Solidaris</a:t>
            </a:r>
            <a:endParaRPr sz="12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0E1FA191-EC57-48EA-95DF-15735B82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7091" y="4256782"/>
            <a:ext cx="1002109" cy="2895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F1E7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273A815-095A-4ACB-B447-BD905D8C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391" y="4294882"/>
            <a:ext cx="824309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1F5A3A"/>
                </a:solidFill>
                <a:latin typeface="Nunito Sans"/>
                <a:ea typeface="Nunito Sans"/>
                <a:cs typeface="Nunito Sans"/>
              </a:rPr>
              <a:t>new teams</a:t>
            </a:r>
            <a:endParaRPr sz="12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0DCE704-F21F-459E-AE15-5CAC471B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082977"/>
            <a:ext cx="10566400" cy="6604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B2B2E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57FE89CD-4D04-43FA-A74F-1EE70E81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235377"/>
            <a:ext cx="1046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2800"/>
              </a:lnSpc>
              <a:buNone/>
            </a:pPr>
            <a:r>
              <a:rPr sz="2000" b="1">
                <a:solidFill>
                  <a:srgbClr val="FFFFFF"/>
                </a:solidFill>
                <a:latin typeface="Alegreya Sans"/>
                <a:ea typeface="Alegreya Sans"/>
                <a:cs typeface="Alegreya Sans"/>
              </a:rPr>
              <a:t>Consume the packages. Run the checks. Return shared improvements.</a:t>
            </a:r>
            <a:endParaRPr sz="20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BB2AC78-E1E5-4212-A25F-FFEDA019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238280"/>
            <a:ext cx="78486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Plectrum · Storybook for application teams</a:t>
            </a:r>
            <a:endParaRPr sz="12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06F7EF3-F60C-4E73-8479-943498A4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400" y="6238280"/>
            <a:ext cx="1066800" cy="23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ts val="1680"/>
              </a:lnSpc>
              <a:buNone/>
            </a:pPr>
            <a:r>
              <a:rPr sz="1200">
                <a:solidFill>
                  <a:srgbClr val="6E6E75"/>
                </a:solidFill>
                <a:latin typeface="Nunito Sans"/>
                <a:ea typeface="Nunito Sans"/>
                <a:cs typeface="Nunito Sans"/>
              </a:rPr>
              <a:t>15 / 16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6862268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ED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2a4e164fc9453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34544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3E9AAE5D-DAEF-4A8A-AFD2-297C6F4D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400" y="1905000"/>
            <a:ext cx="7508494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00"/>
              </a:lnSpc>
              <a:buNone/>
            </a:pPr>
            <a:r>
              <a:rPr sz="2000" b="1" spc="200">
                <a:solidFill>
                  <a:srgbClr val="333333"/>
                </a:solidFill>
                <a:latin typeface="Alegreya Sans"/>
                <a:ea typeface="Alegreya Sans"/>
                <a:cs typeface="Alegreya Sans"/>
              </a:rPr>
              <a:t>DEMO + QUESTIONS</a:t>
            </a:r>
            <a:endParaRPr sz="20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60DBB91-8772-4144-831B-75923BC5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2413000"/>
            <a:ext cx="7534656" cy="15188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5880"/>
              </a:lnSpc>
              <a:buNone/>
            </a:pPr>
            <a:r>
              <a:rPr sz="5600" b="1">
                <a:solidFill>
                  <a:srgbClr val="DA002F"/>
                </a:solidFill>
                <a:latin typeface="Alegreya Sans"/>
                <a:ea typeface="Alegreya Sans"/>
                <a:cs typeface="Alegreya Sans"/>
              </a:rPr>
              <a:t>What would block your first use?</a:t>
            </a:r>
            <a:endParaRPr sz="5600"/>
          </a:p>
        </p:txBody>
      </p:sp>
    </p:spTree>
    <p:extLst>
      <p:ext uri="{BB962C8B-B14F-4D97-AF65-F5344CB8AC3E}">
        <p14:creationId xmlns:p14="http://schemas.microsoft.com/office/powerpoint/2010/main" val="40461677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2026-09-30T12:50:25.2510000Z</dcterms:created>
  <dcterms:modified xsi:type="dcterms:W3CDTF">2026-09-30T12:50:25.2510000Z</dcterms:modified>
</coreProperties>
</file>