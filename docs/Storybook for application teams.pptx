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Storybook is the entry point to Plectrum — what exists, how to use it, what state it is in. - Goal: everyone leaves knowing where to find a component, how to start, where to report a gap. - Overview only: no terminal, no live demo; details stay in Storybook. - For every application team: iShare, iCRM, iGED and every team that joins later. - Flow: structure · SSOTs · token pipelines · AI-first (optional) · CI · PRs · contributing · scale · benefits. - About 25 min + questions. - Transition: "First, where Storybook sits in Plectrum." Source: Overview — https://solidaris-danielbodigil.github.io/solidaris-plectrum/storybook/?path=/docs/introduction--docs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one shared system; each team owns its application. - Figma: shared visual decisions — designers own the values and the component designs. - Plectrum: shared code and contracts, published as Storybook + versioned packages; the Core team owns it. - Application teams: own repositories, screens and local components — they build them without waiting for Core. - Apps install a version: nothing is copied, no Plectrum folder in the app. - Boundary: shared things change through Plectrum PRs and proposals; app code stays with the team. - Transition: "So how does a team actually use Plectrum? Through packages." Source: Overview — https://solidaris-danielbodigil.github.io/solidaris-plectrum/storybook/latest/?path=/docs/introduction--docs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teams don't copy Plectrum — they install it as versioned packages and keep their own repo. - 4 packages under @solidaris-danielbodigil on GitHub Packages (private; the team needs read access). - Runtime: pds-ui, pds-plectrum, pds-styles (styles, tokens, Agenda and Open Sans fonts) — version together. Toolkit: pds-devkit — dev dependency, own version. - Install: copy the Plectrum starter, set the team and application IDs in package.json, run npm install. - Set up: npm install runs plectrum bootstrap — empty local ITCSS layers, styles and fonts wired, local Storybook, unit and story tests, a pre-commit hook, agents and a CI workflow. Commit the generated files. - Build: providePlectrum() is already in app.config; local styles go in src/styles/06-components. - Validate: the generated workflow runs the checks, the build, unit tests and story + accessibility tests on every PR. - Adopt: CI sends a usage report to Core once the team is registered and the PLECTRUM_ADOPTION_TOKEN secret is set; the local Storybook page Plectrum/Setup shows what is missing. - Upgrade: Renovate / Dependabot PRs → plectrum update → checks. What's new lists the changes. Source: Build with Plectrum — https://solidaris-danielbodigil.github.io/solidaris-plectrum/storybook/latest/?path=/docs/get-started-use-plectrum-in-an-app--docs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system scales because each thing has one source — change it once, regenerate, CI catches drift. - Token sources: imported Figma values + code-owned settings → CSS and Foundations pages. - Component metadata: one contract beside the component → docs, catalogue, agent index. - Contribution steps: change a review step once in process.json → docs, CLI help and agent instructions regenerate. - Fewer copies to maintain; CI fails when a copy drifts. - CSS: ITCSS layers + BEMIT naming + shared --pds-* tokens — one architecture for every team. - Next slide: every source, what it feeds and what guards it. Source: Storybook › Docs / CSS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each fact is written once; the rest is generated — and CI fails a second copy. - Component: .metadata.ts → docs page, Find a component row, index.json, toolkit catalogue. - Tokens: tokens.json is imported, never hand-edited; tokens:build is the only writer; Foundations read the compiled CSS. - Process: one contract → Storybook page, plectrum help, agent guidance. - CI: the gates table is read from ci.yml — it cannot drift. - Agents: written once in .ai/agents/; Cursor and VS Code files are generated. - Releases: What's new is generated from changesets. - CI fails on: a stale index, props that drift from the Angular class, docs that restate metadata, an undeclared token (the "Consumed" play test). - Result: effort goes into sources and gates, not into keeping pages in sync. Source: AI strategy · Writing stories · Process and contracts — https://solidaris-danielbodigil.github.io/solidaris-plectrum/storybook/?path=/docs/docs-ai-strategy--docs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one loop — tokens flow down to apps and back up to Figma; every direction ends in a human merge. - Diagram: Storybook's "Pipeline architecture". Orange = Figma, blue = repo, green = app; dashed = manual. - 1: plugin sync → staging branch design-tokens/sync → reviewed PR into tokens.json. - 2: tokens:build → CSS + Storybook manifest. 3–4: packages released → Renovate / Dependabot bump the apps. - 5: a token only one app needs stays in that app (local token file); a token other teams could use is proposed, and Core adds it to 01-settings. - 6–7: tokens:propose → agent (Figma MCP) or tokens plugin → proposals/{app} → a designer merges and publishes. - Every sync: three-way drift audit (Figma, preset, SCSS); report in the PR and as a Figma comment. Source: Token pipeline › Architecture · Figma sync — https://solidaris-danielbodigil.github.io/solidaris-plectrum/storybook/latest/?path=/docs/docs-token-pipeline--docs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agents read typed contracts, not the whole repo — Contract-Driven Development (CDD). - One flow = Storybook's "Contract layers" (index → metadata → protocols → component) + the pre-flight (PrimeNG, Figma, index, Storybook MCP). - index.json: generated map — what exists, where, status, owner. - {name}.metadata.ts: how and why to use it — use cases, anti-patterns, tokens, a11y, AI hints. - protocols/: decision trees for create, query, audit. - Steps 1–4 find what exists; steps 5–7 only run when something is really missing. - In an app, the scaffold creates the component, story, unit test, metadata and styles — no Core approval needed. In Plectrum, a Core component starts after Core's decision. - Example prompt: the pre-flight finds PrimeNG DatePicker (range mode) already covers the need → no new component. - Humans still own review, Storybook, CSS and Figma publication. - By hand: slide 9 — same scripts, tests, CI gates and reviews. Source: AI strategy — https://solidaris-danielbodigil.github.io/solidaris-plectrum/storybook/latest/?path=/docs/docs-ai-strategy--docs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agent prepares, checks verify, people decide. - /plectrum is the only user-facing agent; it coordinates 6 specialists. - UX Researcher: Figma inspection, design brief (read-only). - UX Engineer: SCSS tokens, styles, stories. - Frontend Dev: Angular implementation, a11y, PrimeNG wiring. - Tester: unit tests, story coverage, WCAG 2.1 AA. - Token Auditor + Architect: drift, naming, boundaries (read-only). - Written once in .ai/agents/; npm install (plectrum bootstrap) generates them in each app repo. - Local components need no Core decision; sharing through Core still needs a proposal, a decision, a review and a release. Source: AI strategy › Subagents — https://solidaris-danielbodigil.github.io/solidaris-plectrum/storybook/latest/?path=/docs/docs-ai-strategy--docs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no AI? Nothing lost — same scripts, same CI, same reviews. - Find — agent: PrimeNG MCP → index.json → Storybook MCP (same order as the pre-flight on slide 7). - Find — by hand: themed PrimeNG first, then Find a component or plectrum catalogue (offline). - Create: npm run pds:component in an app (no approval needed), pds:component in the Plectrum repo. - Check: npm run pds:check:ci, then build and tests. - Figma to tokens: an agent reads variables via Figma MCP, or the designer runs the plugin sync; the CI drift audit runs and a developer merges the PR. - Tokens to Figma: tokens:propose + the Plectrum tokens plugin. - Figma components: a designer draws them; merge and publish stay human. - CI runs regardless — agent and human changes alike. Source: AI strategy · Token pipeline › Commands — https://solidaris-danielbodigil.github.io/solidaris-plectrum/storybook/latest/?path=/docs/docs-ai-strategy--docs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four gates, one rule — nothing merges on trust. - Before commit: git hook — check:commit in Plectrum, a fast token check in apps. - Every Plectrum PR (ci.yml): intake-guard · build (drift audit, docs:check, contracts:check, lint, unit tests) · pack-smoke · storybook-tests (interaction + a11y) · storybook-packed · figma-plugin. - Chromatic visual tests: only when enabled — don't promise more. - Every token sync: three-way drift audit (blocking); report in the PR and in Figma. - Every app repo: the generated workflow runs the Plectrum checks (no hex, px or unknown --pds-*), the build, unit tests, story + accessibility tests, and sends the usage report after a push to main. - Release: same commit's CI, clean-app install, matching Storybook; "latest" never moves on a partial release. Source: Maintainer workflow — https://solidaris-danielbodigil.github.io/solidaris-plectrum/storybook/latest/?path=/docs/docs-maintainer-workflow--docs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 PR merges on evidence, not trust — tests and CI produce it, with or without AI. - Unit tests: Vitest — logic and coverage. - Story tests: every story renders; interaction (play) tests; axe accessibility checks. - Contracts + tokens: contracts:check (API), docs:check, generated files committed, token audit. - Package smoke: pack the libraries, install them in a clean app built from the starter, build it and run its stories — exactly what a team repo does. - Application CI: Plectrum checks, build, unit tests, story + accessibility tests. - Chromatic visual tests only when enabled — don't promise more. - Same gates for agent and human changes. Source: Maintainer workflow — https://solidaris-danielbodigil.github.io/solidaris-plectrum/storybook/latest/?path=/docs/docs-maintainer-workflow--docs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every change lands through a reviewed PR; humans own the decisions. - Plectrum code (libs/): Code Owner review + design-system review. - Figma → repo: staging branch only; promotion needs a reviewed PR. - App candidates: candidate-submit opens a reviewed central PR; nothing becomes Core automatically. - Usage reports: app CI opens a central PR after a push to main; Core reviews it. - Repo → Figma: a designer reviews proposals/{app}, then merges and publishes. - Apps: bumps arrive as Renovate / Dependabot PRs, gated by the app's checks and tests. - Releases: Changesets version PR; a maintainer runs the attended release. Source: Contribute · Maintainer workflow — https://solidaris-danielbodigil.github.io/solidaris-plectrum/storybook/latest/?path=/docs/get-started-contribute--docs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build locally; propose to share. - Small fix (typo, example, link): PR on Plectrum. - Gap (component, variant, token): check themed PrimeNG and Core first; if nothing fits, the team builds it in its own repo — no approval needed. - To share it, open a proposal = a GitHub issue on Plectrum: the need, what you tried, a Figma link, a preview. - Core records one decision: use-existing · app-specific · rejected · approved-candidate. - Only approved-candidate lets the team submit the component to Core; the other decisions keep it local. - Your team builds it → your team owns it. Nothing becomes Core automatically. Source: Contribute › Proposal decisions — https://solidaris-danielbodigil.github.io/solidaris-plectrum/storybook/latest/?path=/docs/get-started-contribute--docs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two routes to Core — from an app team or from the design team. - Propose early: Core can spot duplicates and give guidance on reuse, naming and tokens — and the team never waits to build locally. - Colours = actor: green app, blue Core, orange designer, grey release. - Every proposal is a GitHub issue in the central Plectrum repo — from an app team or a designer. - App route: the team builds in its repo → proposes the component → Core decides → the team submits (candidate-submit) → Core integrates → designer updates Figma → release → the app adopts. - Until integration, the component stays the app's; nothing becomes Core automatically. - Local components use feature names (c-affiliate-*), never Core names; the app checks still apply. - Design route: designer proposes from Custom components → Core decides and builds → release. Example: Profile header. - Corrections and Core work: a reviewed PR in the Plectrum repo. Source: Contribute — https://solidaris-danielbodigil.github.io/solidaris-plectrum/storybook/latest/?path=/docs/get-started-contribute--docs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whole process exists to stop teams redoing the same work — and everyone gains something. - Less duplicate maintenance (Core, app teams): one source, generated docs, no design-system code copied into apps. - Fewer local variants (app teams, Solidaris): PrimeNG → Core → local build → proposal; one look across applications. - Earlier feedback (app teams, designers): stories, CI and review catch issues in the PR; sync results land in Figma. - Repeatable adoption (Solidaris, new teams): a new team = the starter + npm install; upgrades arrive as PRs; usage reports show who uses what. - Ask of every team: consume the packages, run the checks, return shared improvements through a GitHub issue. - Next step: one real pilot team walks the full path — local build → proposal → decision → submission → integration → release → adoption. Source: Overview — https://solidaris-danielbodigil.github.io/solidaris-plectrum/storybook/latest/?path=/docs/introduction--docs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collect concrete blockers — let the teams speak first. - Sort questions: find · install · contribute · validate. - Note owners, pilot and missing access; command details → Storybook or a technical session. - Rebuild our app? No — install packages; build local components whenever you need them. - Code to copy? No — consume a published version. - Can AI build a component? It prepares; people review. - Missing token? Use a local token file if only your app needs it; otherwise propose it. - Our own repo already? The starter and the consumer smoke test pass; a real repo is the pilot's goal. - Close: restate the pilot and access prerequisites.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454400" cy="6858000"/>
          </a:xfrm>
          <a:prstGeom prst="rect">
            <a:avLst/>
          </a:prstGeom>
        </p:spPr>
      </p:pic>
      <p:pic>
        <p:nvPicPr>
          <p:cNvPr id="3" name="Image 1" descr="Solidaris">    </p:cNvPr>
          <p:cNvPicPr>
            <a:picLocks noChangeAspect="1"/>
          </p:cNvPicPr>
          <p:nvPr/>
        </p:nvPicPr>
        <p:blipFill>
          <a:blip r:embed="rId2"/>
          <a:srcRect l="0" r="0" t="-78" b="-78"/>
          <a:stretch/>
        </p:blipFill>
        <p:spPr>
          <a:xfrm>
            <a:off x="4025900" y="1244600"/>
            <a:ext cx="1816100" cy="7683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64000" y="2235200"/>
            <a:ext cx="7534656" cy="1631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24"/>
              </a:lnSpc>
              <a:buNone/>
            </a:pPr>
            <a:r>
              <a:rPr lang="en-US" sz="6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Storybook for application teams</a:t>
            </a:r>
            <a:endParaRPr lang="en-US" sz="6200" dirty="0"/>
          </a:p>
        </p:txBody>
      </p:sp>
      <p:sp>
        <p:nvSpPr>
          <p:cNvPr id="5" name="Text 1"/>
          <p:cNvSpPr/>
          <p:nvPr/>
        </p:nvSpPr>
        <p:spPr>
          <a:xfrm>
            <a:off x="4089400" y="4114800"/>
            <a:ext cx="750849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spc="20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PLECTRUM DESIGN SYSTEM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089400" y="4775200"/>
            <a:ext cx="750849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· Contribute · Evolve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STRATEGY — THE SHARED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The shared model and team boundaries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637730"/>
            <a:ext cx="6807200" cy="0"/>
          </a:xfrm>
          <a:prstGeom prst="line">
            <a:avLst/>
          </a:prstGeom>
          <a:noFill/>
          <a:ln w="19050">
            <a:solidFill>
              <a:srgbClr val="C9A5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0692" y="2351385"/>
            <a:ext cx="7011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SHARED BY EVERY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331200" y="2637730"/>
            <a:ext cx="3048000" cy="0"/>
          </a:xfrm>
          <a:prstGeom prst="line">
            <a:avLst/>
          </a:prstGeom>
          <a:noFill/>
          <a:ln w="19050">
            <a:solidFill>
              <a:srgbClr val="2F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5480" y="2351385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OWNED BY EACH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9150" y="2780605"/>
            <a:ext cx="3035300" cy="939800"/>
          </a:xfrm>
          <a:prstGeom prst="roundRect">
            <a:avLst>
              <a:gd name="adj" fmla="val 10135"/>
            </a:avLst>
          </a:prstGeom>
          <a:solidFill>
            <a:srgbClr val="FCEEDF"/>
          </a:solidFill>
          <a:ln w="12700">
            <a:solidFill>
              <a:srgbClr val="D068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9053" y="3037185"/>
            <a:ext cx="82629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B35A0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Figma</a:t>
            </a:r>
            <a:endParaRPr lang="en-US" sz="24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3200" y="3174305"/>
            <a:ext cx="406400" cy="152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8350" y="2780605"/>
            <a:ext cx="3035300" cy="939800"/>
          </a:xfrm>
          <a:prstGeom prst="roundRect">
            <a:avLst>
              <a:gd name="adj" fmla="val 10135"/>
            </a:avLst>
          </a:prstGeom>
          <a:solidFill>
            <a:srgbClr val="E3ECF3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4302" y="3037185"/>
            <a:ext cx="119419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E526D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Plectrum</a:t>
            </a:r>
            <a:endParaRPr lang="en-US" sz="24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3174305"/>
            <a:ext cx="4064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37550" y="2780605"/>
            <a:ext cx="3035300" cy="939800"/>
          </a:xfrm>
          <a:prstGeom prst="roundRect">
            <a:avLst>
              <a:gd name="adj" fmla="val 10135"/>
            </a:avLst>
          </a:prstGeom>
          <a:solidFill>
            <a:srgbClr val="E2F1E7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35913" y="3037185"/>
            <a:ext cx="230562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F5A3A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Application teams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67080" y="3853755"/>
            <a:ext cx="313944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Shared visual decisions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6280" y="3853755"/>
            <a:ext cx="313944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Shared code + contracts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Storybook + packages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285480" y="3853755"/>
            <a:ext cx="313944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Own repositories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Screens + local Candidates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12800" y="5181600"/>
            <a:ext cx="10566400" cy="660400"/>
          </a:xfrm>
          <a:prstGeom prst="roundRect">
            <a:avLst>
              <a:gd name="adj" fmla="val 15385"/>
            </a:avLst>
          </a:prstGeom>
          <a:solidFill>
            <a:srgbClr val="2B2B2E"/>
          </a:solidFill>
          <a:ln/>
        </p:spPr>
      </p:sp>
      <p:sp>
        <p:nvSpPr>
          <p:cNvPr id="20" name="Text 16"/>
          <p:cNvSpPr/>
          <p:nvPr/>
        </p:nvSpPr>
        <p:spPr>
          <a:xfrm>
            <a:off x="863600" y="5334000"/>
            <a:ext cx="1046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One shared system. Each team owns its application.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/ 16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USING PLECTRUM — BUILD WITH PLECTRUM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Teams consume Plectrum as versioned packages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2296"/>
            <a:ext cx="4819650" cy="310257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857871"/>
            <a:ext cx="45914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FOUR PACKAGES · PRIVATE, GITHUB PACKAGES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96950" y="2237879"/>
            <a:ext cx="1473200" cy="307280"/>
          </a:xfrm>
          <a:prstGeom prst="roundRect">
            <a:avLst>
              <a:gd name="adj" fmla="val 16532"/>
            </a:avLst>
          </a:prstGeom>
          <a:solidFill>
            <a:srgbClr val="E3ECF3"/>
          </a:solidFill>
          <a:ln/>
        </p:spPr>
      </p:sp>
      <p:sp>
        <p:nvSpPr>
          <p:cNvPr id="7" name="Text 5"/>
          <p:cNvSpPr/>
          <p:nvPr/>
        </p:nvSpPr>
        <p:spPr>
          <a:xfrm>
            <a:off x="1085850" y="2275979"/>
            <a:ext cx="134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2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pds-ui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71750" y="2292449"/>
            <a:ext cx="290398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Shared Angular components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950" y="2711847"/>
            <a:ext cx="1473200" cy="307280"/>
          </a:xfrm>
          <a:prstGeom prst="roundRect">
            <a:avLst>
              <a:gd name="adj" fmla="val 16532"/>
            </a:avLst>
          </a:prstGeom>
          <a:solidFill>
            <a:srgbClr val="E3ECF3"/>
          </a:solidFill>
          <a:ln/>
        </p:spPr>
      </p:sp>
      <p:sp>
        <p:nvSpPr>
          <p:cNvPr id="10" name="Text 8"/>
          <p:cNvSpPr/>
          <p:nvPr/>
        </p:nvSpPr>
        <p:spPr>
          <a:xfrm>
            <a:off x="1085850" y="2749947"/>
            <a:ext cx="134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2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pds-plectrum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71750" y="2766417"/>
            <a:ext cx="290398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PrimeNG presets + providePlectrum()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96950" y="3185914"/>
            <a:ext cx="1473200" cy="307280"/>
          </a:xfrm>
          <a:prstGeom prst="roundRect">
            <a:avLst>
              <a:gd name="adj" fmla="val 16532"/>
            </a:avLst>
          </a:prstGeom>
          <a:solidFill>
            <a:srgbClr val="E3ECF3"/>
          </a:solidFill>
          <a:ln/>
        </p:spPr>
      </p:sp>
      <p:sp>
        <p:nvSpPr>
          <p:cNvPr id="13" name="Text 11"/>
          <p:cNvSpPr/>
          <p:nvPr/>
        </p:nvSpPr>
        <p:spPr>
          <a:xfrm>
            <a:off x="1085850" y="3224014"/>
            <a:ext cx="134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2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pds-styles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1750" y="3240484"/>
            <a:ext cx="2903982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ITCSS styles, --pds-* tokens, fonts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950" y="3704233"/>
            <a:ext cx="1473200" cy="307280"/>
          </a:xfrm>
          <a:prstGeom prst="roundRect">
            <a:avLst>
              <a:gd name="adj" fmla="val 16532"/>
            </a:avLst>
          </a:prstGeom>
          <a:solidFill>
            <a:srgbClr val="E2F1E7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" y="3742333"/>
            <a:ext cx="1346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5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pds-devkit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1750" y="3659882"/>
            <a:ext cx="2903982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Team toolkit: CLI, app setup, agents, checks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950" y="4222651"/>
            <a:ext cx="459143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three runtime packages version together — upgrade them as a set. The toolkit versions on its own.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42000" y="1699121"/>
            <a:ext cx="57033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 EACH TEAM'S OWN REPO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45175" y="1979116"/>
            <a:ext cx="5530850" cy="412750"/>
          </a:xfrm>
          <a:prstGeom prst="roundRect">
            <a:avLst>
              <a:gd name="adj" fmla="val 1769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9950" y="20457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22" name="Text 20"/>
          <p:cNvSpPr/>
          <p:nvPr/>
        </p:nvSpPr>
        <p:spPr>
          <a:xfrm>
            <a:off x="6043910" y="207883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0950" y="2069902"/>
            <a:ext cx="50361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Install</a:t>
            </a: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copy the starter, then npm install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45175" y="2461716"/>
            <a:ext cx="5530850" cy="412750"/>
          </a:xfrm>
          <a:prstGeom prst="roundRect">
            <a:avLst>
              <a:gd name="adj" fmla="val 1769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9950" y="25283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26" name="Text 24"/>
          <p:cNvSpPr/>
          <p:nvPr/>
        </p:nvSpPr>
        <p:spPr>
          <a:xfrm>
            <a:off x="6043910" y="256143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0950" y="2552502"/>
            <a:ext cx="50361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Set up</a:t>
            </a: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styles, Storybook, tests, hook and CI generated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45175" y="2944316"/>
            <a:ext cx="5530850" cy="412750"/>
          </a:xfrm>
          <a:prstGeom prst="roundRect">
            <a:avLst>
              <a:gd name="adj" fmla="val 1769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9950" y="30109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30" name="Text 28"/>
          <p:cNvSpPr/>
          <p:nvPr/>
        </p:nvSpPr>
        <p:spPr>
          <a:xfrm>
            <a:off x="6043910" y="304403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30950" y="3035102"/>
            <a:ext cx="50361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</a:t>
            </a: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theme, styles and fonts already wired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45175" y="3426916"/>
            <a:ext cx="5530850" cy="412750"/>
          </a:xfrm>
          <a:prstGeom prst="roundRect">
            <a:avLst>
              <a:gd name="adj" fmla="val 1769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9950" y="34935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34" name="Text 32"/>
          <p:cNvSpPr/>
          <p:nvPr/>
        </p:nvSpPr>
        <p:spPr>
          <a:xfrm>
            <a:off x="6043910" y="352663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30950" y="3517702"/>
            <a:ext cx="50361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Validate</a:t>
            </a: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checks, build and tests on every PR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45175" y="3909516"/>
            <a:ext cx="5530850" cy="412750"/>
          </a:xfrm>
          <a:prstGeom prst="roundRect">
            <a:avLst>
              <a:gd name="adj" fmla="val 1769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9950" y="39761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38" name="Text 36"/>
          <p:cNvSpPr/>
          <p:nvPr/>
        </p:nvSpPr>
        <p:spPr>
          <a:xfrm>
            <a:off x="6043910" y="400923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30950" y="4000302"/>
            <a:ext cx="50361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Adopt</a:t>
            </a: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CI reports component usage to Core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45175" y="4392116"/>
            <a:ext cx="5530850" cy="412750"/>
          </a:xfrm>
          <a:prstGeom prst="roundRect">
            <a:avLst>
              <a:gd name="adj" fmla="val 1769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9950" y="4458791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42" name="Text 40"/>
          <p:cNvSpPr/>
          <p:nvPr/>
        </p:nvSpPr>
        <p:spPr>
          <a:xfrm>
            <a:off x="6043910" y="4491831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30950" y="4482902"/>
            <a:ext cx="50361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Upgrade</a:t>
            </a: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Renovate / Dependabot PRs, then plectrum update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12800" y="4985841"/>
            <a:ext cx="10566400" cy="502841"/>
          </a:xfrm>
          <a:prstGeom prst="roundRect">
            <a:avLst>
              <a:gd name="adj" fmla="val 20205"/>
            </a:avLst>
          </a:prstGeom>
          <a:solidFill>
            <a:srgbClr val="2B2B2E"/>
          </a:solidFill>
          <a:ln/>
        </p:spPr>
      </p:sp>
      <p:pic>
        <p:nvPicPr>
          <p:cNvPr id="4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5122962"/>
            <a:ext cx="228600" cy="2286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333500" y="5112841"/>
            <a:ext cx="765156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Nothing is copied: no token values, no Plectrum folder — the version lives in package.json.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/ 16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STRATEGY — SCALABILITY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Scalability through shared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20391"/>
            <a:ext cx="10566400" cy="0"/>
          </a:xfrm>
          <a:prstGeom prst="line">
            <a:avLst/>
          </a:prstGeom>
          <a:noFill/>
          <a:ln w="12700">
            <a:solidFill>
              <a:srgbClr val="C9A5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24521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AUTHORITATIVE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19800" y="1724521"/>
            <a:ext cx="55201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GENERATED OR RENDERED VIEWS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842617"/>
            <a:ext cx="105664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153741"/>
            <a:ext cx="41859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35A0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Token sources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800" y="2499122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Imported Figma values and code-owned settings</a:t>
            </a:r>
            <a:endParaRPr lang="en-US" sz="12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30800" y="2369542"/>
            <a:ext cx="635000" cy="127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19800" y="2255242"/>
            <a:ext cx="55201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CSS + Foundations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12800" y="3661668"/>
            <a:ext cx="105664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800" y="2972792"/>
            <a:ext cx="41859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Component metadata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3318173"/>
            <a:ext cx="41859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contract beside the component</a:t>
            </a:r>
            <a:endParaRPr lang="en-US" sz="12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30800" y="3188593"/>
            <a:ext cx="635000" cy="127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19800" y="3074293"/>
            <a:ext cx="55201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Docs + catalogue + agent index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12800" y="4694039"/>
            <a:ext cx="105664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2800" y="3791843"/>
            <a:ext cx="418592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Contribution steps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12800" y="4137223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Example: change a review step once in process.json, then regenerate.</a:t>
            </a:r>
            <a:endParaRPr lang="en-US" sz="1200" dirty="0"/>
          </a:p>
        </p:txBody>
      </p:sp>
      <p:pic>
        <p:nvPicPr>
          <p:cNvPr id="2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30800" y="4114304"/>
            <a:ext cx="635000" cy="127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19800" y="4000004"/>
            <a:ext cx="55201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Docs + CLI + agent instructions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379834" y="4900414"/>
            <a:ext cx="3432332" cy="305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23"/>
              </a:lnSpc>
              <a:buNone/>
            </a:pPr>
            <a:r>
              <a:rPr lang="en-US" sz="1588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Fewer copies to maintain. CI detects drift.</a:t>
            </a:r>
            <a:endParaRPr lang="en-US" sz="1588" dirty="0"/>
          </a:p>
        </p:txBody>
      </p:sp>
      <p:sp>
        <p:nvSpPr>
          <p:cNvPr id="23" name="Shape 18"/>
          <p:cNvSpPr/>
          <p:nvPr/>
        </p:nvSpPr>
        <p:spPr>
          <a:xfrm>
            <a:off x="4120555" y="5282307"/>
            <a:ext cx="3950891" cy="305296"/>
          </a:xfrm>
          <a:prstGeom prst="roundRect">
            <a:avLst>
              <a:gd name="adj" fmla="val 50000"/>
            </a:avLst>
          </a:prstGeom>
          <a:solidFill>
            <a:srgbClr val="E3ECF3"/>
          </a:solidFill>
          <a:ln/>
        </p:spPr>
      </p:sp>
      <p:sp>
        <p:nvSpPr>
          <p:cNvPr id="24" name="Text 19"/>
          <p:cNvSpPr/>
          <p:nvPr/>
        </p:nvSpPr>
        <p:spPr>
          <a:xfrm>
            <a:off x="4323755" y="5345807"/>
            <a:ext cx="3650825" cy="203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015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CSS: ITCSS layers + BEMIT naming + shared --pds-* tokens</a:t>
            </a:r>
            <a:endParaRPr lang="en-US" sz="1015" dirty="0"/>
          </a:p>
        </p:txBody>
      </p:sp>
      <p:sp>
        <p:nvSpPr>
          <p:cNvPr id="25" name="Text 20"/>
          <p:cNvSpPr/>
          <p:nvPr/>
        </p:nvSpPr>
        <p:spPr>
          <a:xfrm>
            <a:off x="4987131" y="5689203"/>
            <a:ext cx="2284167" cy="178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74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Storybook reference: Docs / CSS architecture</a:t>
            </a:r>
            <a:endParaRPr lang="en-US" sz="874" dirty="0"/>
          </a:p>
        </p:txBody>
      </p:sp>
      <p:sp>
        <p:nvSpPr>
          <p:cNvPr id="26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/ 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LOW MAINTENANCE — SINGLE SOURCES OF TRUTH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Each fact is written once; the rest is generated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62621"/>
          <a:ext cx="10553700" cy="2328069"/>
        </p:xfrm>
        <a:graphic>
          <a:graphicData uri="http://schemas.openxmlformats.org/drawingml/2006/table">
            <a:tbl>
              <a:tblPr/>
              <a:tblGrid>
                <a:gridCol w="2849499"/>
                <a:gridCol w="4960239"/>
                <a:gridCol w="2743962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Written once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Feeds automatically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Guarded by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{name}.metadata.ts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component page, catalogue row, index, agent catalogue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docs:check · contracts:check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tokens.json (Figma)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--pds-* CSS, Foundations pages, token finder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drift audit · build diff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Process and registry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Process page, plectrum help, agent guidance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contracts:check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ci.yml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CI gates table in Storybook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contracts:generate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Agent roles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Cursor and VS Code agents in every repo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CI drift check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Changesets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versions and What's new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changelog build diff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319290"/>
            <a:ext cx="10566400" cy="528241"/>
          </a:xfrm>
          <a:prstGeom prst="roundRect">
            <a:avLst>
              <a:gd name="adj" fmla="val 19234"/>
            </a:avLst>
          </a:prstGeom>
          <a:solidFill>
            <a:srgbClr val="2B2B2E"/>
          </a:solidFill>
          <a:ln/>
        </p:spPr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46911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3500" y="4458990"/>
            <a:ext cx="840924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Change the source once — pages, catalogue, agents and gates follow. A hand-written copy fails CI.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 / 16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TOKEN PIPELINES — FIGMA → STORYBOOK → PACKAGES → APPS, AND BACK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One loop, seven transports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02296"/>
            <a:ext cx="7677150" cy="347345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pic>
        <p:nvPicPr>
          <p:cNvPr id="5" name="Image 0" descr="Storybook diagram, Pipeline architecture: 1 plugin sync from the PrimeNG 21 token file to tokens.json, 2 build to generated CSS and Storybook, 3 publish to packages, 4 install in team repositories, 5 candidate PR to code-owned tokens, 6 propose to a Figma branch proposals/{app}, 7 merge and publish by a designer">    </p:cNvPr>
          <p:cNvPicPr>
            <a:picLocks noChangeAspect="1"/>
          </p:cNvPicPr>
          <p:nvPr/>
        </p:nvPicPr>
        <p:blipFill>
          <a:blip r:embed="rId1"/>
          <a:srcRect l="-12" r="-12" t="0" b="0"/>
          <a:stretch/>
        </p:blipFill>
        <p:spPr>
          <a:xfrm>
            <a:off x="908050" y="1794371"/>
            <a:ext cx="7493000" cy="3289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8700" y="2098080"/>
            <a:ext cx="28124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51875" y="2416175"/>
            <a:ext cx="2724150" cy="851991"/>
          </a:xfrm>
          <a:prstGeom prst="roundRect">
            <a:avLst>
              <a:gd name="adj" fmla="val 10062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pic>
        <p:nvPicPr>
          <p:cNvPr id="8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94750" y="2740521"/>
            <a:ext cx="1905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74150" y="2533650"/>
            <a:ext cx="2223770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Automation writes branches only — never main in Git or the main Figma file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651875" y="3376116"/>
            <a:ext cx="2724150" cy="646311"/>
          </a:xfrm>
          <a:prstGeom prst="roundRect">
            <a:avLst>
              <a:gd name="adj" fmla="val 13264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pic>
        <p:nvPicPr>
          <p:cNvPr id="11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94750" y="3597672"/>
            <a:ext cx="1905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74150" y="3493591"/>
            <a:ext cx="222377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Figma, PrimeNG preset and CSS must match — drift fails CI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651875" y="4130377"/>
            <a:ext cx="2724150" cy="646311"/>
          </a:xfrm>
          <a:prstGeom prst="roundRect">
            <a:avLst>
              <a:gd name="adj" fmla="val 13264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pic>
        <p:nvPicPr>
          <p:cNvPr id="14" name="Image 3" descr="Cha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794750" y="4351933"/>
            <a:ext cx="190500" cy="203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74150" y="4247852"/>
            <a:ext cx="2223770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sync report lands in the PR and as a comment in Figma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12800" y="535672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Solid arrows are automated, dashed arrows are manual — both directions end in a human merge.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 / 16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AI-FIRST — CONTRACT-DRIVEN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Agents read typed contracts before they write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2452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FIND WHAT EXISTS — REUSE BEFORE INVENTING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9150" y="2058491"/>
            <a:ext cx="2324100" cy="815280"/>
          </a:xfrm>
          <a:prstGeom prst="roundRect">
            <a:avLst>
              <a:gd name="adj" fmla="val 10125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9800" y="233908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487395"/>
          </a:solidFill>
          <a:ln/>
        </p:spPr>
      </p:sp>
      <p:sp>
        <p:nvSpPr>
          <p:cNvPr id="7" name="Text 5"/>
          <p:cNvSpPr/>
          <p:nvPr/>
        </p:nvSpPr>
        <p:spPr>
          <a:xfrm>
            <a:off x="1021060" y="2359422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2700" y="2153741"/>
            <a:ext cx="17920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PrimeNG MCP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2700" y="2397522"/>
            <a:ext cx="179209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does PrimeNG already have it?</a:t>
            </a:r>
            <a:endParaRPr lang="en-US" sz="12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25800" y="2402582"/>
            <a:ext cx="254000" cy="127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562350" y="2058491"/>
            <a:ext cx="2324100" cy="815280"/>
          </a:xfrm>
          <a:prstGeom prst="roundRect">
            <a:avLst>
              <a:gd name="adj" fmla="val 10125"/>
            </a:avLst>
          </a:prstGeom>
          <a:solidFill>
            <a:srgbClr val="FFFFFF"/>
          </a:solidFill>
          <a:ln w="12700">
            <a:solidFill>
              <a:srgbClr val="D0680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83000" y="233908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D0680F"/>
          </a:solidFill>
          <a:ln/>
        </p:spPr>
      </p:sp>
      <p:sp>
        <p:nvSpPr>
          <p:cNvPr id="13" name="Text 10"/>
          <p:cNvSpPr/>
          <p:nvPr/>
        </p:nvSpPr>
        <p:spPr>
          <a:xfrm>
            <a:off x="3764260" y="2359422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25900" y="2153741"/>
            <a:ext cx="17920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Figma MCP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25900" y="2397522"/>
            <a:ext cx="179209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reads the design and its variables</a:t>
            </a:r>
            <a:endParaRPr lang="en-US" sz="1200" dirty="0"/>
          </a:p>
        </p:txBody>
      </p:sp>
      <p:pic>
        <p:nvPicPr>
          <p:cNvPr id="16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402582"/>
            <a:ext cx="254000" cy="127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5550" y="2058491"/>
            <a:ext cx="2324100" cy="815280"/>
          </a:xfrm>
          <a:prstGeom prst="roundRect">
            <a:avLst>
              <a:gd name="adj" fmla="val 10125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26200" y="233908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487395"/>
          </a:solidFill>
          <a:ln/>
        </p:spPr>
      </p:sp>
      <p:sp>
        <p:nvSpPr>
          <p:cNvPr id="19" name="Text 15"/>
          <p:cNvSpPr/>
          <p:nvPr/>
        </p:nvSpPr>
        <p:spPr>
          <a:xfrm>
            <a:off x="6507460" y="2359422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69100" y="2153741"/>
            <a:ext cx="17920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index.json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69100" y="2397522"/>
            <a:ext cx="179209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lists every Plectrum component</a:t>
            </a:r>
            <a:endParaRPr lang="en-US" sz="1200" dirty="0"/>
          </a:p>
        </p:txBody>
      </p:sp>
      <p:pic>
        <p:nvPicPr>
          <p:cNvPr id="2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2402582"/>
            <a:ext cx="254000" cy="1270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48750" y="2058491"/>
            <a:ext cx="2324100" cy="815280"/>
          </a:xfrm>
          <a:prstGeom prst="roundRect">
            <a:avLst>
              <a:gd name="adj" fmla="val 10125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69400" y="2339082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487395"/>
          </a:solidFill>
          <a:ln/>
        </p:spPr>
      </p:sp>
      <p:sp>
        <p:nvSpPr>
          <p:cNvPr id="25" name="Text 20"/>
          <p:cNvSpPr/>
          <p:nvPr/>
        </p:nvSpPr>
        <p:spPr>
          <a:xfrm>
            <a:off x="9250660" y="2359422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512300" y="2153741"/>
            <a:ext cx="17920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Storybook MCP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512300" y="2397522"/>
            <a:ext cx="179209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reads the live docs and stories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2800" y="299442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THEN FOLLOW THE CONTRACT — BUILD ONLY WHAT IS MISSING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19150" y="3328392"/>
            <a:ext cx="3238500" cy="815280"/>
          </a:xfrm>
          <a:prstGeom prst="roundRect">
            <a:avLst>
              <a:gd name="adj" fmla="val 10125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39800" y="36089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487395"/>
          </a:solidFill>
          <a:ln/>
        </p:spPr>
      </p:sp>
      <p:sp>
        <p:nvSpPr>
          <p:cNvPr id="31" name="Text 26"/>
          <p:cNvSpPr/>
          <p:nvPr/>
        </p:nvSpPr>
        <p:spPr>
          <a:xfrm>
            <a:off x="1021060" y="3629323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282700" y="3432473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{name}.metadata.ts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1282700" y="3658493"/>
            <a:ext cx="273392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how and why to use it: variants, tokens, a11y</a:t>
            </a:r>
            <a:endParaRPr lang="en-US" sz="1200" dirty="0"/>
          </a:p>
        </p:txBody>
      </p:sp>
      <p:pic>
        <p:nvPicPr>
          <p:cNvPr id="34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140200" y="3672483"/>
            <a:ext cx="254000" cy="1270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476750" y="3328392"/>
            <a:ext cx="3238500" cy="815280"/>
          </a:xfrm>
          <a:prstGeom prst="roundRect">
            <a:avLst>
              <a:gd name="adj" fmla="val 10125"/>
            </a:avLst>
          </a:prstGeom>
          <a:solidFill>
            <a:srgbClr val="FFFFFF"/>
          </a:solidFill>
          <a:ln w="12700">
            <a:solidFill>
              <a:srgbClr val="7A838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597400" y="36089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7A838C"/>
          </a:solidFill>
          <a:ln/>
        </p:spPr>
      </p:sp>
      <p:sp>
        <p:nvSpPr>
          <p:cNvPr id="37" name="Text 31"/>
          <p:cNvSpPr/>
          <p:nvPr/>
        </p:nvSpPr>
        <p:spPr>
          <a:xfrm>
            <a:off x="4678660" y="3629323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940300" y="3518892"/>
            <a:ext cx="27339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protocols/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4940300" y="3762673"/>
            <a:ext cx="273392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rules to create, query and audit</a:t>
            </a:r>
            <a:endParaRPr lang="en-US" sz="1200" dirty="0"/>
          </a:p>
        </p:txBody>
      </p:sp>
      <p:pic>
        <p:nvPicPr>
          <p:cNvPr id="4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797800" y="3672483"/>
            <a:ext cx="254000" cy="127000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8134350" y="3328392"/>
            <a:ext cx="3238500" cy="815280"/>
          </a:xfrm>
          <a:prstGeom prst="roundRect">
            <a:avLst>
              <a:gd name="adj" fmla="val 10125"/>
            </a:avLst>
          </a:prstGeom>
          <a:solidFill>
            <a:srgbClr val="E2F1E7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255000" y="3608983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43" name="Text 36"/>
          <p:cNvSpPr/>
          <p:nvPr/>
        </p:nvSpPr>
        <p:spPr>
          <a:xfrm>
            <a:off x="8336260" y="3629323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8597900" y="3423642"/>
            <a:ext cx="27339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component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597900" y="3667423"/>
            <a:ext cx="273392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scaffolded locally, no approval needed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812800" y="4353223"/>
            <a:ext cx="10566400" cy="1229320"/>
          </a:xfrm>
          <a:prstGeom prst="roundRect">
            <a:avLst>
              <a:gd name="adj" fmla="val 8265"/>
            </a:avLst>
          </a:prstGeom>
          <a:solidFill>
            <a:srgbClr val="2B2B2E"/>
          </a:solidFill>
          <a:ln/>
        </p:spPr>
      </p:sp>
      <p:sp>
        <p:nvSpPr>
          <p:cNvPr id="47" name="Text 40"/>
          <p:cNvSpPr/>
          <p:nvPr/>
        </p:nvSpPr>
        <p:spPr>
          <a:xfrm>
            <a:off x="990600" y="4480223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A9B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990600" y="4731643"/>
            <a:ext cx="1051712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F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/plectrum</a:t>
            </a:r>
            <a:r>
              <a:rPr lang="en-US" sz="1200" dirty="0">
                <a:solidFill>
                  <a:srgbClr val="F2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 need a date-range filter for the claims list.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Figma: [frame link]. Reuse PrimeNG or Core first.</a:t>
            </a:r>
            <a:endParaRPr lang="en-US" sz="1200" dirty="0"/>
          </a:p>
        </p:txBody>
      </p:sp>
      <p:sp>
        <p:nvSpPr>
          <p:cNvPr id="49" name="Text 42"/>
          <p:cNvSpPr/>
          <p:nvPr/>
        </p:nvSpPr>
        <p:spPr>
          <a:xfrm>
            <a:off x="990600" y="5226943"/>
            <a:ext cx="105171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FD8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PrimeNG DatePicker (range) covers it: no new component.</a:t>
            </a:r>
            <a:endParaRPr lang="en-US" sz="1200" dirty="0"/>
          </a:p>
        </p:txBody>
      </p:sp>
      <p:sp>
        <p:nvSpPr>
          <p:cNvPr id="50" name="Text 4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 / 16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AI-FIRST —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One coordinator, six specialists, human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49921"/>
            <a:ext cx="2794000" cy="2166441"/>
          </a:xfrm>
          <a:prstGeom prst="roundRect">
            <a:avLst>
              <a:gd name="adj" fmla="val 4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78142D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749921"/>
            <a:ext cx="2794000" cy="2166441"/>
          </a:xfrm>
          <a:custGeom>
            <a:avLst/>
            <a:gdLst/>
            <a:ahLst/>
            <a:cxnLst/>
            <a:rect l="l" t="t" r="r" b="b"/>
            <a:pathLst>
              <a:path w="2794000" h="216644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692400" y="0"/>
                </a:lnTo>
                <a:arcTo hR="101600" wR="101600" stAng="16200000" swAng="5400000"/>
                <a:lnTo>
                  <a:pt x="27940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A002F"/>
          </a:solidFill>
          <a:ln/>
        </p:spPr>
      </p:sp>
      <p:pic>
        <p:nvPicPr>
          <p:cNvPr id="6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00392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2397621"/>
            <a:ext cx="245922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B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/plectrum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2770981"/>
            <a:ext cx="245922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only agent you talk to. It delegates to the specialists.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6000" y="3286522"/>
            <a:ext cx="245922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Cursor and VS Code / Copilot, generated at npm install.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10000" y="1749921"/>
            <a:ext cx="2387600" cy="981571"/>
          </a:xfrm>
          <a:prstGeom prst="roundRect">
            <a:avLst>
              <a:gd name="adj" fmla="val 905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3962400" y="1889621"/>
            <a:ext cx="21452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UX Researcher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62400" y="2146102"/>
            <a:ext cx="21452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Figma inspection, design brief · read-only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1749921"/>
            <a:ext cx="2387600" cy="981571"/>
          </a:xfrm>
          <a:prstGeom prst="roundRect">
            <a:avLst>
              <a:gd name="adj" fmla="val 905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553200" y="1889621"/>
            <a:ext cx="21452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UX Engineer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53200" y="2146102"/>
            <a:ext cx="21452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SCSS tokens, BEMIT, stories, Figma writes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91600" y="1749921"/>
            <a:ext cx="2387600" cy="981571"/>
          </a:xfrm>
          <a:prstGeom prst="roundRect">
            <a:avLst>
              <a:gd name="adj" fmla="val 9057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0" y="1889621"/>
            <a:ext cx="21452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Frontend Dev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0" y="2146102"/>
            <a:ext cx="21452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Angular, accessibility, PrimeNG wiring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10000" y="2934692"/>
            <a:ext cx="2387600" cy="981670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962400" y="3074392"/>
            <a:ext cx="21452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962400" y="3330873"/>
            <a:ext cx="21452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unit tests, story coverage, WCAG 2.1 AA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2934692"/>
            <a:ext cx="2387600" cy="981670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6553200" y="3074392"/>
            <a:ext cx="21452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Token Auditor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53200" y="3330873"/>
            <a:ext cx="21452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prefix, coverage, Figma drift · read-only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91600" y="2934692"/>
            <a:ext cx="2387600" cy="981670"/>
          </a:xfrm>
          <a:prstGeom prst="roundRect">
            <a:avLst>
              <a:gd name="adj" fmla="val 9056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0" y="3074392"/>
            <a:ext cx="21452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0" y="3330873"/>
            <a:ext cx="21452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catalogue, naming, boundaries · read-only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12800" y="4144962"/>
            <a:ext cx="6350000" cy="1244600"/>
          </a:xfrm>
          <a:prstGeom prst="roundRect">
            <a:avLst>
              <a:gd name="adj" fmla="val 8163"/>
            </a:avLst>
          </a:prstGeom>
          <a:solidFill>
            <a:srgbClr val="2B2B2E"/>
          </a:solidFill>
          <a:ln/>
        </p:spPr>
      </p:sp>
      <p:sp>
        <p:nvSpPr>
          <p:cNvPr id="29" name="Text 26"/>
          <p:cNvSpPr/>
          <p:nvPr/>
        </p:nvSpPr>
        <p:spPr>
          <a:xfrm>
            <a:off x="1016000" y="4310063"/>
            <a:ext cx="612190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8F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/plectrum</a:t>
            </a:r>
            <a:r>
              <a:rPr lang="en-US" sz="1200" dirty="0">
                <a:solidFill>
                  <a:srgbClr val="F2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Add a Core status banner.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Owner: design-system. Figma: [UI Kit link].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Proposal: [issue link].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0E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 PrimeNG Message if it already covers this.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467600" y="4475163"/>
            <a:ext cx="40289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The agent prepares. Checks verify. People decide.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 / 16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AI-FIRST — OPTIONAL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No AI? Same scripts, same CI, same reviews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86421"/>
          <a:ext cx="10553700" cy="2514898"/>
        </p:xfrm>
        <a:graphic>
          <a:graphicData uri="http://schemas.openxmlformats.org/drawingml/2006/table">
            <a:tbl>
              <a:tblPr/>
              <a:tblGrid>
                <a:gridCol w="2532888"/>
                <a:gridCol w="4221480"/>
                <a:gridCol w="379933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Task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With an agent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By hand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Find a component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PrimeNG MCP · index.json · Storybook MCP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Find a component · plectrum catalogue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Create a component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/plectrum and its specialists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plectrum scaffold · pds:component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Token scripts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agent runs them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same commands in a terminal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Figma to tokens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agent + Figma MCP, or plugin sync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plugin sync → CI audit → reviewed PR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Tokens to Figma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agent + Figma MCP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Plectrum tokens plugin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Figma component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agent on a Custom components branch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designer draws it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353719"/>
            <a:ext cx="6223000" cy="954881"/>
          </a:xfrm>
          <a:prstGeom prst="roundRect">
            <a:avLst>
              <a:gd name="adj" fmla="val 10640"/>
            </a:avLst>
          </a:prstGeom>
          <a:solidFill>
            <a:srgbClr val="2B2B2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480719"/>
            <a:ext cx="5991098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“The agent usually runs these steps; you can do each one by hand.”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968280"/>
            <a:ext cx="5991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9C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Storybook › AI strategy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39000" y="4353719"/>
            <a:ext cx="4140200" cy="954881"/>
          </a:xfrm>
          <a:prstGeom prst="roundRect">
            <a:avLst>
              <a:gd name="adj" fmla="val 10640"/>
            </a:avLst>
          </a:prstGeom>
          <a:solidFill>
            <a:srgbClr val="FFEDF1"/>
          </a:solidFill>
          <a:ln/>
        </p:spPr>
      </p:sp>
      <p:sp>
        <p:nvSpPr>
          <p:cNvPr id="9" name="Text 6"/>
          <p:cNvSpPr/>
          <p:nvPr/>
        </p:nvSpPr>
        <p:spPr>
          <a:xfrm>
            <a:off x="7442200" y="4584799"/>
            <a:ext cx="384581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DA002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Scripts and CI run regardless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42200" y="4864199"/>
            <a:ext cx="3845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 applies to agent and human changes alike.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 / 16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CI — THE GATES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Four gates, one rule: nothing merges on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49921"/>
            <a:ext cx="2527300" cy="2090241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78142D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749921"/>
            <a:ext cx="2527300" cy="2090241"/>
          </a:xfrm>
          <a:custGeom>
            <a:avLst/>
            <a:gdLst/>
            <a:ahLst/>
            <a:cxnLst/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7A838C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97852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A535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BEFORE COMMIT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26804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git hook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0600" y="2557562"/>
            <a:ext cx="2236851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docs and contracts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token prefix and usage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style lint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generated files saved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2500" y="1749921"/>
            <a:ext cx="2527300" cy="2090241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78142D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2500" y="1749921"/>
            <a:ext cx="2527300" cy="2090241"/>
          </a:xfrm>
          <a:custGeom>
            <a:avLst/>
            <a:gdLst/>
            <a:ahLst/>
            <a:cxnLst/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487395"/>
          </a:solidFill>
          <a:ln/>
        </p:spPr>
      </p:sp>
      <p:sp>
        <p:nvSpPr>
          <p:cNvPr id="11" name="Text 9"/>
          <p:cNvSpPr/>
          <p:nvPr/>
        </p:nvSpPr>
        <p:spPr>
          <a:xfrm>
            <a:off x="3670300" y="197852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PLECTRUM PR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70300" y="226804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Seven CI jobs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0300" y="2557562"/>
            <a:ext cx="2236851" cy="1130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token drift and lint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contracts, index, docs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story: render, play, a11y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packed consumer build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749921"/>
            <a:ext cx="2527300" cy="2090241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78142D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749921"/>
            <a:ext cx="2527300" cy="2090241"/>
          </a:xfrm>
          <a:custGeom>
            <a:avLst/>
            <a:gdLst/>
            <a:ahLst/>
            <a:cxnLst/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0680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0" y="197852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450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TOKEN SYNC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0000" y="226804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sync workflow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0000" y="2557562"/>
            <a:ext cx="2236851" cy="1130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rebuild from the Figma dump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three-way drift audit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preset validation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report in the PR and in Figma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1900" y="1749921"/>
            <a:ext cx="2527300" cy="2090241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76200" dir="5400000">
              <a:srgbClr val="78142D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51900" y="1749921"/>
            <a:ext cx="2527300" cy="2090241"/>
          </a:xfrm>
          <a:custGeom>
            <a:avLst/>
            <a:gdLst/>
            <a:ahLst/>
            <a:cxnLst/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425700" y="0"/>
                </a:lnTo>
                <a:arcTo hR="101600" wR="101600" stAng="16200000" swAng="5400000"/>
                <a:lnTo>
                  <a:pt x="2527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F7D52"/>
          </a:solidFill>
          <a:ln/>
        </p:spPr>
      </p:sp>
      <p:sp>
        <p:nvSpPr>
          <p:cNvPr id="21" name="Text 19"/>
          <p:cNvSpPr/>
          <p:nvPr/>
        </p:nvSpPr>
        <p:spPr>
          <a:xfrm>
            <a:off x="9029700" y="197852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EVERY APP REPO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29700" y="2268041"/>
            <a:ext cx="22368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generated workflow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29700" y="2557562"/>
            <a:ext cx="2236851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token and contract checks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+ unit tests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stories + accessibility</a:t>
            </a:r>
            <a:endParaRPr lang="en-US" sz="1200" dirty="0"/>
          </a:p>
          <a:p>
            <a:pPr algn="l" marL="182880" indent="-1551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usage report to Core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4068763"/>
            <a:ext cx="5514479" cy="358080"/>
          </a:xfrm>
          <a:prstGeom prst="roundRect">
            <a:avLst>
              <a:gd name="adj" fmla="val 50000"/>
            </a:avLst>
          </a:prstGeom>
          <a:solidFill>
            <a:srgbClr val="F3E6E9"/>
          </a:solidFill>
          <a:ln/>
        </p:spPr>
      </p:sp>
      <p:pic>
        <p:nvPicPr>
          <p:cNvPr id="25" name="Image 0" descr="Verifi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" y="4146153"/>
            <a:ext cx="203200" cy="2032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70000" y="4132263"/>
            <a:ext cx="50258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Then the release: same commit's CI, clean install, release manifest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 / 16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0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CI AND PRS — EVIDENCE</a:t>
            </a:r>
            <a:endParaRPr lang="en-US" sz="1268" dirty="0"/>
          </a:p>
        </p:txBody>
      </p:sp>
      <p:sp>
        <p:nvSpPr>
          <p:cNvPr id="3" name="Text 1"/>
          <p:cNvSpPr/>
          <p:nvPr/>
        </p:nvSpPr>
        <p:spPr>
          <a:xfrm>
            <a:off x="812800" y="1088529"/>
            <a:ext cx="10883392" cy="440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66"/>
              </a:lnSpc>
              <a:buNone/>
            </a:pPr>
            <a:r>
              <a:rPr lang="en-US" sz="311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Tests and CI provide the PR evidence</a:t>
            </a:r>
            <a:endParaRPr lang="en-US" sz="3110" dirty="0"/>
          </a:p>
        </p:txBody>
      </p:sp>
      <p:sp>
        <p:nvSpPr>
          <p:cNvPr id="4" name="Shape 2"/>
          <p:cNvSpPr/>
          <p:nvPr/>
        </p:nvSpPr>
        <p:spPr>
          <a:xfrm>
            <a:off x="815975" y="1685032"/>
            <a:ext cx="10560050" cy="3155652"/>
          </a:xfrm>
          <a:prstGeom prst="roundRect">
            <a:avLst>
              <a:gd name="adj" fmla="val 3119"/>
            </a:avLst>
          </a:prstGeom>
          <a:solidFill>
            <a:srgbClr val="FFFFFF"/>
          </a:solidFill>
          <a:ln w="6350">
            <a:solidFill>
              <a:srgbClr val="EBD3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2350" y="2339082"/>
            <a:ext cx="101473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1871166"/>
            <a:ext cx="34010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Unit tests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24350" y="1888827"/>
            <a:ext cx="70244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Vitest logic + coverage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22350" y="2954933"/>
            <a:ext cx="101473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2487017"/>
            <a:ext cx="34010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Story tests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24350" y="2504777"/>
            <a:ext cx="70244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Rendering, interactions + accessibility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22350" y="3570883"/>
            <a:ext cx="101473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2350" y="3102967"/>
            <a:ext cx="34010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Contracts + tokens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24350" y="3120628"/>
            <a:ext cx="70244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API, docs and generated-file consistency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2350" y="4186734"/>
            <a:ext cx="101473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2350" y="3718818"/>
            <a:ext cx="34010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Package smoke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24350" y="3736578"/>
            <a:ext cx="70244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Install + build in a clean app, like a team repo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2350" y="4334669"/>
            <a:ext cx="340106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Application CI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24350" y="4352429"/>
            <a:ext cx="702449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Checks, build, unit + story tests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5021659"/>
            <a:ext cx="10566400" cy="526852"/>
          </a:xfrm>
          <a:prstGeom prst="roundRect">
            <a:avLst>
              <a:gd name="adj" fmla="val 19284"/>
            </a:avLst>
          </a:prstGeom>
          <a:solidFill>
            <a:srgbClr val="2B2B2E"/>
          </a:solidFill>
          <a:ln/>
        </p:spPr>
      </p:sp>
      <p:pic>
        <p:nvPicPr>
          <p:cNvPr id="20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5170785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33500" y="5142905"/>
            <a:ext cx="398929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Required gates apply with or without AI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2800" y="5637411"/>
            <a:ext cx="3124519" cy="22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Visual regressions: Chromatic when enabled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51114" y="5637411"/>
            <a:ext cx="4066045" cy="22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Storybook reference: Docs / Maintainer workflow / Testing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 / 16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PULL REQUESTS — THE REVIEW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Every change lands through a reviewed PR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62621"/>
          <a:ext cx="10553700" cy="2660650"/>
        </p:xfrm>
        <a:graphic>
          <a:graphicData uri="http://schemas.openxmlformats.org/drawingml/2006/table">
            <a:tbl>
              <a:tblPr/>
              <a:tblGrid>
                <a:gridCol w="3588258"/>
                <a:gridCol w="3377184"/>
                <a:gridCol w="3588258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What changes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Where it lands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Who approves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F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Components, styles, tokens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 on Plectrum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Code Owner and design-system review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BD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Figma token sync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promotion PR, report as body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developer; the designer sees it in Figma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An app's candidate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intake PR, data only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Core team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code-owned token for Figma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branch proposals/{app}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designer merges and publishes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usage report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central PR from app CI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Core team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new version for your app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Renovate or Dependabot PR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your team, with its checks and tests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 release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version PR, then attended release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B2B2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the release maintainer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5187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Nothing reaches main, the Figma main file or an app without a human approval.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 / 16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CONTRIBUTING — BUILD LOCALLY, PROPOSE TO SHARE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 typo is a PR; a gap is a proposal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956421"/>
            <a:ext cx="1765300" cy="723900"/>
          </a:xfrm>
          <a:prstGeom prst="roundRect">
            <a:avLst>
              <a:gd name="adj" fmla="val 13158"/>
            </a:avLst>
          </a:prstGeom>
          <a:solidFill>
            <a:srgbClr val="ECEEEF"/>
          </a:solidFill>
          <a:ln w="12700">
            <a:solidFill>
              <a:srgbClr val="7A83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3096121"/>
            <a:ext cx="14986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What kind of change?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59150" y="1857871"/>
            <a:ext cx="2019300" cy="93980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7900" y="2105521"/>
            <a:ext cx="175285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Typo, broken example, wrong link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59150" y="3845421"/>
            <a:ext cx="2019300" cy="939800"/>
          </a:xfrm>
          <a:prstGeom prst="roundRect">
            <a:avLst>
              <a:gd name="adj" fmla="val 10135"/>
            </a:avLst>
          </a:prstGeom>
          <a:solidFill>
            <a:srgbClr val="E2F1E7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7900" y="4093071"/>
            <a:ext cx="175285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Missing component, variant or token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53150" y="1965821"/>
            <a:ext cx="1765300" cy="723900"/>
          </a:xfrm>
          <a:prstGeom prst="roundRect">
            <a:avLst>
              <a:gd name="adj" fmla="val 13158"/>
            </a:avLst>
          </a:prstGeom>
          <a:solidFill>
            <a:srgbClr val="E3ECF3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1900" y="2097286"/>
            <a:ext cx="149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1900" y="2344936"/>
            <a:ext cx="149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C4D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 Plectrum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53150" y="3953371"/>
            <a:ext cx="1765300" cy="723900"/>
          </a:xfrm>
          <a:prstGeom prst="roundRect">
            <a:avLst>
              <a:gd name="adj" fmla="val 13158"/>
            </a:avLst>
          </a:prstGeom>
          <a:solidFill>
            <a:srgbClr val="ECEEEF"/>
          </a:solidFill>
          <a:ln w="12700">
            <a:solidFill>
              <a:srgbClr val="7A83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1900" y="4084836"/>
            <a:ext cx="149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Proposal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1900" y="4332486"/>
            <a:ext cx="149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5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GitHub issue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10550" y="2975471"/>
            <a:ext cx="3162300" cy="546100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3900" y="303520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52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use-existing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43900" y="324852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PrimeNG, Core or an existing token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10550" y="3686671"/>
            <a:ext cx="3162300" cy="546100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3900" y="374640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A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app-specific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43900" y="395972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stays in the application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10550" y="4397871"/>
            <a:ext cx="3162300" cy="546100"/>
          </a:xfrm>
          <a:prstGeom prst="roundRect">
            <a:avLst>
              <a:gd name="adj" fmla="val 15116"/>
            </a:avLst>
          </a:prstGeom>
          <a:solidFill>
            <a:srgbClr val="FFFFFF"/>
          </a:solidFill>
          <a:ln w="12700">
            <a:solidFill>
              <a:srgbClr val="7A83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3900" y="445760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3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43900" y="4670921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555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not shared; build locally if needed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13725" y="5112246"/>
            <a:ext cx="3155950" cy="539750"/>
          </a:xfrm>
          <a:prstGeom prst="roundRect">
            <a:avLst>
              <a:gd name="adj" fmla="val 14706"/>
            </a:avLst>
          </a:prstGeom>
          <a:solidFill>
            <a:srgbClr val="E3ECF3"/>
          </a:solidFill>
          <a:ln w="19050">
            <a:solidFill>
              <a:srgbClr val="4873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0250" y="5172571"/>
            <a:ext cx="296938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dirty="0">
                <a:solidFill>
                  <a:srgbClr val="2E52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approved-candidate</a:t>
            </a:r>
            <a:endParaRPr lang="en-US" sz="1196" dirty="0"/>
          </a:p>
        </p:txBody>
      </p:sp>
      <p:sp>
        <p:nvSpPr>
          <p:cNvPr id="27" name="Text 25"/>
          <p:cNvSpPr/>
          <p:nvPr/>
        </p:nvSpPr>
        <p:spPr>
          <a:xfrm>
            <a:off x="8350250" y="5382121"/>
            <a:ext cx="296938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C4D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your team builds and owns it</a:t>
            </a:r>
            <a:endParaRPr lang="en-US" sz="1196" dirty="0"/>
          </a:p>
        </p:txBody>
      </p:sp>
      <p:pic>
        <p:nvPicPr>
          <p:cNvPr id="28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40000" y="3267571"/>
            <a:ext cx="482600" cy="101600"/>
          </a:xfrm>
          <a:prstGeom prst="rect">
            <a:avLst/>
          </a:prstGeom>
        </p:spPr>
      </p:pic>
      <p:pic>
        <p:nvPicPr>
          <p:cNvPr id="2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1000" y="2276971"/>
            <a:ext cx="101600" cy="2089150"/>
          </a:xfrm>
          <a:prstGeom prst="rect">
            <a:avLst/>
          </a:prstGeom>
        </p:spPr>
      </p:pic>
      <p:pic>
        <p:nvPicPr>
          <p:cNvPr id="3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1000" y="2276971"/>
            <a:ext cx="482600" cy="101600"/>
          </a:xfrm>
          <a:prstGeom prst="rect">
            <a:avLst/>
          </a:prstGeom>
        </p:spPr>
      </p:pic>
      <p:pic>
        <p:nvPicPr>
          <p:cNvPr id="3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21000" y="4264521"/>
            <a:ext cx="482600" cy="101600"/>
          </a:xfrm>
          <a:prstGeom prst="rect">
            <a:avLst/>
          </a:prstGeom>
        </p:spPr>
      </p:pic>
      <p:pic>
        <p:nvPicPr>
          <p:cNvPr id="32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34000" y="2276971"/>
            <a:ext cx="863600" cy="101600"/>
          </a:xfrm>
          <a:prstGeom prst="rect">
            <a:avLst/>
          </a:prstGeom>
        </p:spPr>
      </p:pic>
      <p:pic>
        <p:nvPicPr>
          <p:cNvPr id="33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34000" y="4264521"/>
            <a:ext cx="863600" cy="101600"/>
          </a:xfrm>
          <a:prstGeom prst="rect">
            <a:avLst/>
          </a:prstGeom>
        </p:spPr>
      </p:pic>
      <p:pic>
        <p:nvPicPr>
          <p:cNvPr id="34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874000" y="4264521"/>
            <a:ext cx="241300" cy="101600"/>
          </a:xfrm>
          <a:prstGeom prst="rect">
            <a:avLst/>
          </a:prstGeom>
        </p:spPr>
      </p:pic>
      <p:pic>
        <p:nvPicPr>
          <p:cNvPr id="35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013700" y="3197721"/>
            <a:ext cx="101600" cy="2235200"/>
          </a:xfrm>
          <a:prstGeom prst="rect">
            <a:avLst/>
          </a:prstGeom>
        </p:spPr>
      </p:pic>
      <p:pic>
        <p:nvPicPr>
          <p:cNvPr id="36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013700" y="3197721"/>
            <a:ext cx="241300" cy="101600"/>
          </a:xfrm>
          <a:prstGeom prst="rect">
            <a:avLst/>
          </a:prstGeom>
        </p:spPr>
      </p:pic>
      <p:pic>
        <p:nvPicPr>
          <p:cNvPr id="37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013700" y="3908921"/>
            <a:ext cx="241300" cy="101600"/>
          </a:xfrm>
          <a:prstGeom prst="rect">
            <a:avLst/>
          </a:prstGeom>
        </p:spPr>
      </p:pic>
      <p:pic>
        <p:nvPicPr>
          <p:cNvPr id="38" name="Image 10" descr="connector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13700" y="4620121"/>
            <a:ext cx="241300" cy="101600"/>
          </a:xfrm>
          <a:prstGeom prst="rect">
            <a:avLst/>
          </a:prstGeom>
        </p:spPr>
      </p:pic>
      <p:pic>
        <p:nvPicPr>
          <p:cNvPr id="39" name="Image 11" descr="connector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013700" y="5331321"/>
            <a:ext cx="241300" cy="10160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 / 16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CONTRIBUTING — FROM A TEAM’S GAP TO CORE</a:t>
            </a:r>
            <a:endParaRPr lang="en-US" sz="1268" dirty="0"/>
          </a:p>
        </p:txBody>
      </p:sp>
      <p:sp>
        <p:nvSpPr>
          <p:cNvPr id="3" name="Text 1"/>
          <p:cNvSpPr/>
          <p:nvPr/>
        </p:nvSpPr>
        <p:spPr>
          <a:xfrm>
            <a:off x="812800" y="1083370"/>
            <a:ext cx="10883392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4"/>
              </a:lnSpc>
              <a:buNone/>
            </a:pPr>
            <a:r>
              <a:rPr lang="en-US" sz="307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App team → build → proposal → Core release</a:t>
            </a:r>
            <a:endParaRPr lang="en-US" sz="3070" dirty="0"/>
          </a:p>
        </p:txBody>
      </p:sp>
      <p:sp>
        <p:nvSpPr>
          <p:cNvPr id="4" name="Text 2"/>
          <p:cNvSpPr/>
          <p:nvPr/>
        </p:nvSpPr>
        <p:spPr>
          <a:xfrm>
            <a:off x="812800" y="1616273"/>
            <a:ext cx="10883392" cy="26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an app team </a:t>
            </a:r>
            <a:r>
              <a:rPr lang="en-US" sz="1339" b="1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— built in your repository, yours until Core integrates it</a:t>
            </a:r>
            <a:endParaRPr lang="en-US" sz="1339" dirty="0"/>
          </a:p>
        </p:txBody>
      </p:sp>
      <p:sp>
        <p:nvSpPr>
          <p:cNvPr id="5" name="Shape 3"/>
          <p:cNvSpPr/>
          <p:nvPr/>
        </p:nvSpPr>
        <p:spPr>
          <a:xfrm>
            <a:off x="819150" y="1948755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7100" y="2068116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7" name="Text 5"/>
          <p:cNvSpPr/>
          <p:nvPr/>
        </p:nvSpPr>
        <p:spPr>
          <a:xfrm>
            <a:off x="1021060" y="2101155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8100" y="1985665"/>
            <a:ext cx="36115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+ propose </a:t>
            </a:r>
            <a:r>
              <a:rPr lang="en-US" sz="13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app team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08100" y="2216745"/>
            <a:ext cx="36115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approval to build; open an issue to share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9150" y="2530475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7100" y="264983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487395"/>
          </a:solidFill>
          <a:ln/>
        </p:spPr>
      </p:sp>
      <p:sp>
        <p:nvSpPr>
          <p:cNvPr id="12" name="Text 10"/>
          <p:cNvSpPr/>
          <p:nvPr/>
        </p:nvSpPr>
        <p:spPr>
          <a:xfrm>
            <a:off x="1021060" y="2682875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08100" y="2567384"/>
            <a:ext cx="322160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Decide </a:t>
            </a:r>
            <a:r>
              <a:rPr lang="en-US" sz="13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08100" y="2798465"/>
            <a:ext cx="322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Core records the decision and the owner team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150" y="3112195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7100" y="323155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060" y="3264595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08100" y="3149104"/>
            <a:ext cx="34207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Complete </a:t>
            </a:r>
            <a:r>
              <a:rPr lang="en-US" sz="13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app team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08100" y="3380184"/>
            <a:ext cx="34207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Stories, tests, evidence and a preview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9150" y="3693914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100" y="381327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22" name="Text 20"/>
          <p:cNvSpPr/>
          <p:nvPr/>
        </p:nvSpPr>
        <p:spPr>
          <a:xfrm>
            <a:off x="1021060" y="3846314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8100" y="3730823"/>
            <a:ext cx="32552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Submit </a:t>
            </a:r>
            <a:r>
              <a:rPr lang="en-US" sz="13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app team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08100" y="3961904"/>
            <a:ext cx="32552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Preview + CI result; listed in Find a component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3950" y="1948755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1900" y="2068116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48739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5860" y="2101155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92900" y="1985665"/>
            <a:ext cx="39406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Integrate </a:t>
            </a:r>
            <a:r>
              <a:rPr lang="en-US" sz="13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92900" y="2216745"/>
            <a:ext cx="39406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Core generalises it into the packages — never automatic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03950" y="2530475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D0680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11900" y="264983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0680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5860" y="2682875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92900" y="2567384"/>
            <a:ext cx="290336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Update Figma </a:t>
            </a:r>
            <a:r>
              <a:rPr lang="en-US" sz="1300" b="1" dirty="0">
                <a:solidFill>
                  <a:srgbClr val="8F450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designer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92900" y="2798465"/>
            <a:ext cx="29033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Added to the Custom components library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03950" y="3112195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7A83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11900" y="3231555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7A838C"/>
          </a:solidFill>
          <a:ln/>
        </p:spPr>
      </p:sp>
      <p:sp>
        <p:nvSpPr>
          <p:cNvPr id="37" name="Text 35"/>
          <p:cNvSpPr/>
          <p:nvPr/>
        </p:nvSpPr>
        <p:spPr>
          <a:xfrm>
            <a:off x="6405860" y="3264595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92900" y="3149104"/>
            <a:ext cx="312319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Release </a:t>
            </a:r>
            <a:r>
              <a:rPr lang="en-US" sz="1300" b="1" dirty="0">
                <a:solidFill>
                  <a:srgbClr val="4A535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maintainer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92900" y="3380184"/>
            <a:ext cx="31231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package version + versioned Storybook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03950" y="3693914"/>
            <a:ext cx="5168900" cy="518220"/>
          </a:xfrm>
          <a:prstGeom prst="roundRect">
            <a:avLst>
              <a:gd name="adj" fmla="val 15930"/>
            </a:avLst>
          </a:prstGeom>
          <a:solidFill>
            <a:srgbClr val="FFFFFF"/>
          </a:solidFill>
          <a:ln w="12700">
            <a:solidFill>
              <a:srgbClr val="2F7D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11900" y="3813274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F7D5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5860" y="3846314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92900" y="3730823"/>
            <a:ext cx="347576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Adopt </a:t>
            </a:r>
            <a:r>
              <a:rPr lang="en-US" sz="13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app team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92900" y="3961904"/>
            <a:ext cx="34757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Upgrade, delete your local copy, use the Core one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2800" y="4345484"/>
            <a:ext cx="10883392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the design team </a:t>
            </a:r>
            <a:r>
              <a:rPr lang="en-US" sz="1339" b="1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— starts in Figma, built by Core</a:t>
            </a:r>
            <a:endParaRPr lang="en-US" sz="1339" dirty="0"/>
          </a:p>
        </p:txBody>
      </p:sp>
      <p:sp>
        <p:nvSpPr>
          <p:cNvPr id="46" name="Shape 44"/>
          <p:cNvSpPr/>
          <p:nvPr/>
        </p:nvSpPr>
        <p:spPr>
          <a:xfrm>
            <a:off x="819150" y="4677271"/>
            <a:ext cx="1866900" cy="590550"/>
          </a:xfrm>
          <a:prstGeom prst="roundRect">
            <a:avLst>
              <a:gd name="adj" fmla="val 13978"/>
            </a:avLst>
          </a:prstGeom>
          <a:solidFill>
            <a:srgbClr val="FCEEDF"/>
          </a:solidFill>
          <a:ln w="12700">
            <a:solidFill>
              <a:srgbClr val="D0680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7100" y="4759821"/>
            <a:ext cx="17018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Propose </a:t>
            </a:r>
            <a:r>
              <a:rPr lang="en-US" sz="1231" b="1" dirty="0">
                <a:solidFill>
                  <a:srgbClr val="8F450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designer</a:t>
            </a:r>
            <a:endParaRPr lang="en-US" sz="1231" dirty="0"/>
          </a:p>
        </p:txBody>
      </p:sp>
      <p:sp>
        <p:nvSpPr>
          <p:cNvPr id="48" name="Text 46"/>
          <p:cNvSpPr/>
          <p:nvPr/>
        </p:nvSpPr>
        <p:spPr>
          <a:xfrm>
            <a:off x="927100" y="4987131"/>
            <a:ext cx="1701800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GitHub issue + Figma</a:t>
            </a:r>
            <a:endParaRPr lang="en-US" sz="1121" dirty="0"/>
          </a:p>
        </p:txBody>
      </p:sp>
      <p:pic>
        <p:nvPicPr>
          <p:cNvPr id="4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4921746"/>
            <a:ext cx="177800" cy="10160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2978150" y="4677271"/>
            <a:ext cx="1866900" cy="590550"/>
          </a:xfrm>
          <a:prstGeom prst="roundRect">
            <a:avLst>
              <a:gd name="adj" fmla="val 13978"/>
            </a:avLst>
          </a:prstGeom>
          <a:solidFill>
            <a:srgbClr val="E3ECF3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086100" y="4759821"/>
            <a:ext cx="17018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Decide </a:t>
            </a:r>
            <a:r>
              <a:rPr lang="en-US" sz="1231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Core</a:t>
            </a:r>
            <a:endParaRPr lang="en-US" sz="1231" dirty="0"/>
          </a:p>
        </p:txBody>
      </p:sp>
      <p:sp>
        <p:nvSpPr>
          <p:cNvPr id="52" name="Text 49"/>
          <p:cNvSpPr/>
          <p:nvPr/>
        </p:nvSpPr>
        <p:spPr>
          <a:xfrm>
            <a:off x="3086100" y="4987131"/>
            <a:ext cx="1701800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reuse checked first</a:t>
            </a:r>
            <a:endParaRPr lang="en-US" sz="1121" dirty="0"/>
          </a:p>
        </p:txBody>
      </p:sp>
      <p:pic>
        <p:nvPicPr>
          <p:cNvPr id="5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02200" y="4921746"/>
            <a:ext cx="177800" cy="101600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5137150" y="4677271"/>
            <a:ext cx="1866900" cy="590550"/>
          </a:xfrm>
          <a:prstGeom prst="roundRect">
            <a:avLst>
              <a:gd name="adj" fmla="val 13978"/>
            </a:avLst>
          </a:prstGeom>
          <a:solidFill>
            <a:srgbClr val="FCEEDF"/>
          </a:solidFill>
          <a:ln w="12700">
            <a:solidFill>
              <a:srgbClr val="D0680F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245100" y="4759821"/>
            <a:ext cx="17018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Publish </a:t>
            </a:r>
            <a:r>
              <a:rPr lang="en-US" sz="1231" b="1" dirty="0">
                <a:solidFill>
                  <a:srgbClr val="8F450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designer</a:t>
            </a:r>
            <a:endParaRPr lang="en-US" sz="1231" dirty="0"/>
          </a:p>
        </p:txBody>
      </p:sp>
      <p:sp>
        <p:nvSpPr>
          <p:cNvPr id="56" name="Text 52"/>
          <p:cNvSpPr/>
          <p:nvPr/>
        </p:nvSpPr>
        <p:spPr>
          <a:xfrm>
            <a:off x="5245100" y="4987131"/>
            <a:ext cx="1701800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 the Figma library</a:t>
            </a:r>
            <a:endParaRPr lang="en-US" sz="1121" dirty="0"/>
          </a:p>
        </p:txBody>
      </p:sp>
      <p:pic>
        <p:nvPicPr>
          <p:cNvPr id="5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1200" y="4921746"/>
            <a:ext cx="177800" cy="101600"/>
          </a:xfrm>
          <a:prstGeom prst="rect">
            <a:avLst/>
          </a:prstGeom>
        </p:spPr>
      </p:pic>
      <p:sp>
        <p:nvSpPr>
          <p:cNvPr id="58" name="Shape 53"/>
          <p:cNvSpPr/>
          <p:nvPr/>
        </p:nvSpPr>
        <p:spPr>
          <a:xfrm>
            <a:off x="7296150" y="4677271"/>
            <a:ext cx="1866900" cy="590550"/>
          </a:xfrm>
          <a:prstGeom prst="roundRect">
            <a:avLst>
              <a:gd name="adj" fmla="val 13978"/>
            </a:avLst>
          </a:prstGeom>
          <a:solidFill>
            <a:srgbClr val="E3ECF3"/>
          </a:solidFill>
          <a:ln w="12700">
            <a:solidFill>
              <a:srgbClr val="487395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7404100" y="4759821"/>
            <a:ext cx="17018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Build </a:t>
            </a:r>
            <a:r>
              <a:rPr lang="en-US" sz="1231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Core</a:t>
            </a:r>
            <a:endParaRPr lang="en-US" sz="1231" dirty="0"/>
          </a:p>
        </p:txBody>
      </p:sp>
      <p:sp>
        <p:nvSpPr>
          <p:cNvPr id="60" name="Text 55"/>
          <p:cNvSpPr/>
          <p:nvPr/>
        </p:nvSpPr>
        <p:spPr>
          <a:xfrm>
            <a:off x="7404100" y="4987131"/>
            <a:ext cx="1701800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 the Plectrum repo</a:t>
            </a:r>
            <a:endParaRPr lang="en-US" sz="1121" dirty="0"/>
          </a:p>
        </p:txBody>
      </p:sp>
      <p:pic>
        <p:nvPicPr>
          <p:cNvPr id="6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20200" y="4921746"/>
            <a:ext cx="177800" cy="101600"/>
          </a:xfrm>
          <a:prstGeom prst="rect">
            <a:avLst/>
          </a:prstGeom>
        </p:spPr>
      </p:pic>
      <p:sp>
        <p:nvSpPr>
          <p:cNvPr id="62" name="Shape 56"/>
          <p:cNvSpPr/>
          <p:nvPr/>
        </p:nvSpPr>
        <p:spPr>
          <a:xfrm>
            <a:off x="9455150" y="4677271"/>
            <a:ext cx="1866900" cy="590550"/>
          </a:xfrm>
          <a:prstGeom prst="roundRect">
            <a:avLst>
              <a:gd name="adj" fmla="val 13978"/>
            </a:avLst>
          </a:prstGeom>
          <a:solidFill>
            <a:srgbClr val="ECEEEF"/>
          </a:solidFill>
          <a:ln w="12700">
            <a:solidFill>
              <a:srgbClr val="7A838C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9563100" y="4759821"/>
            <a:ext cx="170180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Release </a:t>
            </a:r>
            <a:r>
              <a:rPr lang="en-US" sz="1231" b="1" dirty="0">
                <a:solidFill>
                  <a:srgbClr val="4A535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· maintainer</a:t>
            </a:r>
            <a:endParaRPr lang="en-US" sz="1231" dirty="0"/>
          </a:p>
        </p:txBody>
      </p:sp>
      <p:sp>
        <p:nvSpPr>
          <p:cNvPr id="64" name="Text 58"/>
          <p:cNvSpPr/>
          <p:nvPr/>
        </p:nvSpPr>
        <p:spPr>
          <a:xfrm>
            <a:off x="9563100" y="4987131"/>
            <a:ext cx="1701800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646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packages + Storybook</a:t>
            </a:r>
            <a:endParaRPr lang="en-US" sz="1121" dirty="0"/>
          </a:p>
        </p:txBody>
      </p:sp>
      <p:sp>
        <p:nvSpPr>
          <p:cNvPr id="65" name="Shape 59"/>
          <p:cNvSpPr/>
          <p:nvPr/>
        </p:nvSpPr>
        <p:spPr>
          <a:xfrm>
            <a:off x="812800" y="5401171"/>
            <a:ext cx="10566400" cy="440829"/>
          </a:xfrm>
          <a:prstGeom prst="roundRect">
            <a:avLst>
              <a:gd name="adj" fmla="val 23047"/>
            </a:avLst>
          </a:prstGeom>
          <a:solidFill>
            <a:srgbClr val="2B2B2E"/>
          </a:solidFill>
          <a:ln/>
        </p:spPr>
      </p:sp>
      <p:pic>
        <p:nvPicPr>
          <p:cNvPr id="66" name="Image 4" descr="Light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0600" y="5507236"/>
            <a:ext cx="228600" cy="228600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1308100" y="5497215"/>
            <a:ext cx="76904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8FA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Important:</a:t>
            </a:r>
            <a:r>
              <a:rPr lang="en-US" sz="1400" b="1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propose early so Core can spot duplicates — you never wait to build locally.</a:t>
            </a:r>
            <a:endParaRPr lang="en-US" sz="1400" dirty="0"/>
          </a:p>
        </p:txBody>
      </p:sp>
      <p:sp>
        <p:nvSpPr>
          <p:cNvPr id="68" name="Text 6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69" name="Text 6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 / 16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094680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The full process reduces repeated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487116"/>
            <a:ext cx="105664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813421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Less duplicate maintenance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2181721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thanks to </a:t>
            </a:r>
            <a:r>
              <a:rPr lang="en-US" sz="1200" b="1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shared 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92196" y="1959471"/>
            <a:ext cx="555724" cy="289520"/>
          </a:xfrm>
          <a:prstGeom prst="roundRect">
            <a:avLst>
              <a:gd name="adj" fmla="val 50000"/>
            </a:avLst>
          </a:prstGeom>
          <a:solidFill>
            <a:srgbClr val="E3ECF3"/>
          </a:solidFill>
          <a:ln/>
        </p:spPr>
      </p:sp>
      <p:sp>
        <p:nvSpPr>
          <p:cNvPr id="8" name="Text 6"/>
          <p:cNvSpPr/>
          <p:nvPr/>
        </p:nvSpPr>
        <p:spPr>
          <a:xfrm>
            <a:off x="9906496" y="1997571"/>
            <a:ext cx="3779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526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11420" y="1959471"/>
            <a:ext cx="967780" cy="289520"/>
          </a:xfrm>
          <a:prstGeom prst="roundRect">
            <a:avLst>
              <a:gd name="adj" fmla="val 50000"/>
            </a:avLst>
          </a:prstGeom>
          <a:solidFill>
            <a:srgbClr val="E2F1E7"/>
          </a:solidFill>
          <a:ln/>
        </p:spPr>
      </p:sp>
      <p:sp>
        <p:nvSpPr>
          <p:cNvPr id="10" name="Text 8"/>
          <p:cNvSpPr/>
          <p:nvPr/>
        </p:nvSpPr>
        <p:spPr>
          <a:xfrm>
            <a:off x="10525720" y="1997571"/>
            <a:ext cx="7899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 teams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252887"/>
            <a:ext cx="105664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2579191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Fewer local variants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800" y="2947491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thanks to </a:t>
            </a:r>
            <a:r>
              <a:rPr lang="en-US" sz="1200" b="1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reuse + contracts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0096" y="2725241"/>
            <a:ext cx="967780" cy="289520"/>
          </a:xfrm>
          <a:prstGeom prst="roundRect">
            <a:avLst>
              <a:gd name="adj" fmla="val 50000"/>
            </a:avLst>
          </a:prstGeom>
          <a:solidFill>
            <a:srgbClr val="E2F1E7"/>
          </a:solidFill>
          <a:ln/>
        </p:spPr>
      </p:sp>
      <p:sp>
        <p:nvSpPr>
          <p:cNvPr id="15" name="Text 13"/>
          <p:cNvSpPr/>
          <p:nvPr/>
        </p:nvSpPr>
        <p:spPr>
          <a:xfrm>
            <a:off x="9614396" y="2763341"/>
            <a:ext cx="7899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 teams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31376" y="2725241"/>
            <a:ext cx="847824" cy="289520"/>
          </a:xfrm>
          <a:prstGeom prst="roundRect">
            <a:avLst>
              <a:gd name="adj" fmla="val 50000"/>
            </a:avLst>
          </a:prstGeom>
          <a:solidFill>
            <a:srgbClr val="FFEDF1"/>
          </a:solidFill>
          <a:ln/>
        </p:spPr>
      </p:sp>
      <p:sp>
        <p:nvSpPr>
          <p:cNvPr id="17" name="Text 15"/>
          <p:cNvSpPr/>
          <p:nvPr/>
        </p:nvSpPr>
        <p:spPr>
          <a:xfrm>
            <a:off x="10645676" y="2763341"/>
            <a:ext cx="6700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00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Solidaris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4018657"/>
            <a:ext cx="10566400" cy="0"/>
          </a:xfrm>
          <a:prstGeom prst="line">
            <a:avLst/>
          </a:prstGeom>
          <a:noFill/>
          <a:ln w="6350">
            <a:solidFill>
              <a:srgbClr val="EBD3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800" y="3344962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Earlier feedback on changes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12800" y="3713262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thanks to </a:t>
            </a:r>
            <a:r>
              <a:rPr lang="en-US" sz="1200" b="1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stories + CI + 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34810" y="3491012"/>
            <a:ext cx="967780" cy="289520"/>
          </a:xfrm>
          <a:prstGeom prst="roundRect">
            <a:avLst>
              <a:gd name="adj" fmla="val 50000"/>
            </a:avLst>
          </a:prstGeom>
          <a:solidFill>
            <a:srgbClr val="E2F1E7"/>
          </a:solidFill>
          <a:ln/>
        </p:spPr>
      </p:sp>
      <p:sp>
        <p:nvSpPr>
          <p:cNvPr id="22" name="Text 20"/>
          <p:cNvSpPr/>
          <p:nvPr/>
        </p:nvSpPr>
        <p:spPr>
          <a:xfrm>
            <a:off x="9549110" y="3529112"/>
            <a:ext cx="7899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 teams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66090" y="3491012"/>
            <a:ext cx="913110" cy="289520"/>
          </a:xfrm>
          <a:prstGeom prst="roundRect">
            <a:avLst>
              <a:gd name="adj" fmla="val 50000"/>
            </a:avLst>
          </a:prstGeom>
          <a:solidFill>
            <a:srgbClr val="FCEED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80390" y="3529112"/>
            <a:ext cx="7353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F450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designers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4110732"/>
            <a:ext cx="7194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B2B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Repeatable adoption across teams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2800" y="4479032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thanks to </a:t>
            </a:r>
            <a:r>
              <a:rPr lang="en-US" sz="1200" b="1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versioned delivery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65766" y="4256782"/>
            <a:ext cx="847824" cy="289520"/>
          </a:xfrm>
          <a:prstGeom prst="roundRect">
            <a:avLst>
              <a:gd name="adj" fmla="val 50000"/>
            </a:avLst>
          </a:prstGeom>
          <a:solidFill>
            <a:srgbClr val="FFEDF1"/>
          </a:solidFill>
          <a:ln/>
        </p:spPr>
      </p:sp>
      <p:sp>
        <p:nvSpPr>
          <p:cNvPr id="28" name="Text 26"/>
          <p:cNvSpPr/>
          <p:nvPr/>
        </p:nvSpPr>
        <p:spPr>
          <a:xfrm>
            <a:off x="9580066" y="4294882"/>
            <a:ext cx="6700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0002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Solidaris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77091" y="4256782"/>
            <a:ext cx="1002109" cy="289520"/>
          </a:xfrm>
          <a:prstGeom prst="roundRect">
            <a:avLst>
              <a:gd name="adj" fmla="val 50000"/>
            </a:avLst>
          </a:prstGeom>
          <a:solidFill>
            <a:srgbClr val="E2F1E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1391" y="4294882"/>
            <a:ext cx="8243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5A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teams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2800" y="5082977"/>
            <a:ext cx="10566400" cy="660400"/>
          </a:xfrm>
          <a:prstGeom prst="roundRect">
            <a:avLst>
              <a:gd name="adj" fmla="val 15385"/>
            </a:avLst>
          </a:prstGeom>
          <a:solidFill>
            <a:srgbClr val="2B2B2E"/>
          </a:solidFill>
          <a:ln/>
        </p:spPr>
      </p:sp>
      <p:sp>
        <p:nvSpPr>
          <p:cNvPr id="32" name="Text 30"/>
          <p:cNvSpPr/>
          <p:nvPr/>
        </p:nvSpPr>
        <p:spPr>
          <a:xfrm>
            <a:off x="863600" y="5235377"/>
            <a:ext cx="1046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Consume the packages. Run the checks. Return shared improvements.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Plectrum · Storybook for application teams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 / 16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D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4544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89400" y="1905000"/>
            <a:ext cx="75084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spc="200" kern="0" dirty="0">
                <a:solidFill>
                  <a:srgbClr val="333333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DEMO + QUESTIONS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064000" y="2413000"/>
            <a:ext cx="7534656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DA002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What would block your first use?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Storybook for application teams</dc:title>
  <dc:subject>PptxGenJS Presentation</dc:subject>
  <dc:creator>PptxGenJS</dc:creator>
  <cp:lastModifiedBy>PptxGenJS</cp:lastModifiedBy>
  <cp:revision>1</cp:revision>
  <dcterms:created xsi:type="dcterms:W3CDTF">2026-09-28T21:27:09Z</dcterms:created>
  <dcterms:modified xsi:type="dcterms:W3CDTF">2026-09-28T21:27:09Z</dcterms:modified>
</cp:coreProperties>
</file>